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At one month the rand is almost a random walk, so we didn't try to out-muscle it. Our combination scores 0.5599 against the AR(1)'s 0.5624 and the random walk's 0.5600. That gap is not statistically significant, and we'll say so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and compare RMSE with an AR(1) out of sample. It is hard because since Meese and Rogoff in 1983 structural models lose to a no-change forecast at this horizon. Our answer is a small gain over the AR(1), 0.44 per cent, that we cannot distinguish from noise, and no gain over the random 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commodity, dollar and risk predictors. Combined by inverse recent error. On the right is how the test is protected: every input joined on when it was public, training only on resolved outcomes, purged cross-validation, weights from resolved errors, and every forecast logged. The ridge variant, decay and sharpness were chosen on 309 validation origins from 2 January 2015 to 27 November 2020. Those scores were used for selection, so they are not independent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The chart is the cumulative squared-error difference against the AR(1); above zero the combination is ahead. It peaked at 1.32 on 28 March 2025 and finished at 0.72, so most of the gain was given back. Separately, the AR(1) is pulled towards a long-run level that sat below spot at every origin, by R2.11 on average, and it never forecast a rise. Squared bias accounts for 55 per cent of its excess squared error against the combination. That is an observation. We have not shown it is the whole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chart shows each model's RMSE difference from the random walk on the left and from the AR(1) on the right, with 95 per cent intervals. Green is the two comparisons we fixed in advance. The combination is 0.44 per cent below the AR(1) but the interval includes zero, and against the random walk it is level. An equal-weight average of the same three scores 0.5599. Gradient boosting scores 0.5745, the highest of the 13 models, and that covers this specification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Four things. A small gain over the AR(1) that is not statistically established, p 0.449, and level with the random walk. Adaptive weighting adds nothing measurable. The AR(1) leans downward, which we report as an observation. And what we won't claim: significance, directional skill, or profitability, and every 2021 to 2025 result is exploratory.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rank, share of origins at which each model forecast a rise. The AR(1) variants, drift, equal-weight average and adaptive pairs are exploratory.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AR(1) scored 0.4523 in 2025 against 0.4629 for the combination and 0.4574 for the random walk. We have not tested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 before the judged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We did, with a small tuned grid, and it scored worst here. That says nothing general about machine learning: the M5 results paper reports the top methods there were ML methods, mostly LightGBM, and that combinations helped.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would you test this properly. The 2021 to 2025 window was scored repeatedly during development, so a clean test needs new origins.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Forecasting the rand</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one month ahead</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86868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scores 0.44% lower RMSE than the AR(1) benchmark over 261 out-of-sample forecasts. The gap is not statistically significant, and the combination is level with the random walk.</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0.5599</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combination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random walk</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p = 0.449</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against the AR(1)</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by how much?</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Compare RMSE with an AR(1), out of sample, and say how far the result can be trusted.</a:t>
            </a:r>
            <a:endParaRPr lang="en-US" sz="2100" dirty="0"/>
          </a:p>
        </p:txBody>
      </p:sp>
      <p:sp>
        <p:nvSpPr>
          <p:cNvPr id="6" name="Text 4"/>
          <p:cNvSpPr/>
          <p:nvPr/>
        </p:nvSpPr>
        <p:spPr>
          <a:xfrm>
            <a:off x="566928" y="3291840"/>
            <a:ext cx="11064240" cy="219456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Rossi (2013) finds that success depends on the sample, predictor, horizon and benchmark.</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A gain of 0.44% in RMSE over the AR(1) that is not statistically established, and no gain over the random walk.</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settings chosen on 2015 to 2020, before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Commodity, dollar and risk predictors.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How the test is protected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public by Friday 17:00 Johannesburg.</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Purged cross-validation, scaler inside folds.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use only resolved errors.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Small enough to derive by hand. </a:t>
            </a:r>
            <a:pPr indent="0" marL="0">
              <a:buNone/>
            </a:pPr>
            <a:r>
              <a:rPr lang="en-US" sz="1800" dirty="0">
                <a:solidFill>
                  <a:srgbClr val="CADCFC"/>
                </a:solidFill>
                <a:latin typeface="Arial" pitchFamily="34" charset="0"/>
                <a:ea typeface="Arial" pitchFamily="34" charset="-122"/>
                <a:cs typeface="Arial" pitchFamily="34" charset="-120"/>
              </a:rPr>
              <a:t>The combination is OLS, ridge regression and a weighted average, so every component can be worked through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gained on the AR(1) until 28 March 2025, then gave most of it back</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mulative squared-error gap against the AR(1)">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Reading the chart</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Cumulative squared-error gain peaked at 1.32 and ended at 0.72.</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The AR(1)'s implied long-run level sat below spot at 261 of 261 origins, by R2.11 on average, and it never forecast a rise.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Squared bias is 55% of its excess squared error. The rest is variance.</a:t>
            </a:r>
            <a:endParaRPr lang="en-US" sz="17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implied level below spot</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The downward lean is an observation, not shown to be the full explanation.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combination's RMSE is 0.44% below the AR(1)'s and level with the random walk's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RMSE by model">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numbers</a:t>
            </a:r>
            <a:endParaRPr lang="en-US" sz="2000" dirty="0"/>
          </a:p>
        </p:txBody>
      </p:sp>
      <p:sp>
        <p:nvSpPr>
          <p:cNvPr id="6" name="Text 3"/>
          <p:cNvSpPr/>
          <p:nvPr/>
        </p:nvSpPr>
        <p:spPr>
          <a:xfrm>
            <a:off x="7635240" y="1783080"/>
            <a:ext cx="4114800" cy="4023360"/>
          </a:xfrm>
          <a:prstGeom prst="rect">
            <a:avLst/>
          </a:prstGeom>
          <a:noFill/>
          <a:ln/>
        </p:spPr>
        <p:txBody>
          <a:bodyPr wrap="square" lIns="0" tIns="0" rIns="0" bIns="0" rtlCol="0" anchor="ctr"/>
          <a:lstStyle/>
          <a:p>
            <a:pPr marL="342900" indent="-342900">
              <a:spcAft>
                <a:spcPts val="1400"/>
              </a:spcAft>
              <a:buSzPct val="100000"/>
              <a:buChar char="•"/>
            </a:pPr>
            <a:r>
              <a:rPr lang="en-US" sz="1700" dirty="0">
                <a:solidFill>
                  <a:srgbClr val="1F2937"/>
                </a:solidFill>
                <a:latin typeface="Arial" pitchFamily="34" charset="0"/>
                <a:ea typeface="Arial" pitchFamily="34" charset="-122"/>
                <a:cs typeface="Arial" pitchFamily="34" charset="-120"/>
              </a:rPr>
              <a:t>Combination 0.5599, AR(1) 0.5624, random walk 0.5600, over 261 forecasts.</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Both prespecified intervals include zero: p = 0.449 against the AR(1), 0.967 against the random walk.</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Equal weights score 0.5599, so adaptive weighting adds nothing measurable.</a:t>
            </a:r>
            <a:endParaRPr lang="en-US" sz="1700" dirty="0"/>
          </a:p>
          <a:p>
            <a:pPr indent="0" marL="0">
              <a:spcAft>
                <a:spcPts val="1400"/>
              </a:spcAft>
              <a:buNone/>
            </a:pPr>
            <a:r>
              <a:rPr lang="en-US" sz="1700" dirty="0">
                <a:solidFill>
                  <a:srgbClr val="1F2937"/>
                </a:solidFill>
                <a:latin typeface="Arial" pitchFamily="34" charset="0"/>
                <a:ea typeface="Arial" pitchFamily="34" charset="-122"/>
                <a:cs typeface="Arial" pitchFamily="34" charset="-120"/>
              </a:rPr>
              <a:t>Gradient boosting scores 0.5745, the highest of 13 models. This specification only.</a:t>
            </a:r>
            <a:endParaRPr lang="en-US" sz="17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Intervals: Newey-West, lag 3. None of 21 exploratory comparisons survives Holm adjustment.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29768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A small gain over the AR(1).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0.44% lower RMSE, not statistically established (p = 0.449). Level with the random walk (p = 0.967).</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Adaptive weighting adds nothing measurable.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Equal weights score 0.5599. The weights stayed between 0.306 and 0.353.</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The AR(1) leans downward.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level was below spot at 261 of 261 origins. We have not tested whether that is why it lost.</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Significance, directional skill (the combination's 46.4% accuracy equals the share of rises), or profitability. All 2021 to 2025 results are exploratory.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(2022). M5 accuracy competition: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the leaders differ by 0.00068 in RMSE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3931920"/>
                <a:gridCol w="1280160"/>
                <a:gridCol w="1280160"/>
                <a:gridCol w="1828800"/>
                <a:gridCol w="1005840"/>
                <a:gridCol w="1737360"/>
              </a:tblGrid>
              <a:tr h="31089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RMSE below AR(1)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Calls a rise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log level (benchmark)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level</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5-year window</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0.5724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AR(1), mean-corrected</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0.5617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+0.11%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0.4480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Random walk with drift</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0.5627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0.4577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-0.05%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+0.38%</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Gradient boosting</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0.5745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0.4723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-2.16%</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65%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Combination</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b="1"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Equal-weight RW + carry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0.4495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carry</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0.5599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0.4504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100%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310896">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Adaptive RW + ridge</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0.5601</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0.4479</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+0.40%</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200" dirty="0">
                          <a:solidFill>
                            <a:srgbClr val="1F2937"/>
                          </a:solidFill>
                          <a:latin typeface="Arial" pitchFamily="34" charset="0"/>
                          <a:ea typeface="Arial" pitchFamily="34" charset="-122"/>
                          <a:cs typeface="Arial" pitchFamily="34" charset="-120"/>
                        </a:rPr>
                        <a:t>72%</a:t>
                      </a:r>
                      <a:endParaRPr lang="en-US" sz="1200" dirty="0">
                        <a:latin typeface="Arial" charset="0"/>
                        <a:ea typeface="Arial" charset="0"/>
                        <a:cs typeface="Arial" charset="0"/>
                      </a:endParaRPr>
                    </a:p>
                  </a:txBody>
                  <a:tcPr marL="45720" marR="45720" marT="45720" marB="45720"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RMSE below AR(1) is positive when a model beats the benchmark. Only the first row and the two prespecified comparisons were fixed in advance.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is below the AR(1) in 4 of 5 years; 2025 goes the other way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RMSE by year">    </p:cNvPr>
          <p:cNvPicPr>
            <a:picLocks noChangeAspect="1"/>
          </p:cNvPicPr>
          <p:nvPr/>
        </p:nvPicPr>
        <p:blipFill>
          <a:blip r:embed="rId1"/>
          <a:stretch>
            <a:fillRect/>
          </a:stretch>
        </p:blipFill>
        <p:spPr>
          <a:xfrm>
            <a:off x="2194560" y="137160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Five annual figures cannot show whether the pattern is stable. We have not tested why 2025 differs.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is verified against an independent source, and predictors join on publication time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7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Official EconData export, MARKET_RATES 1.0.0, series EXCX135.B.A, 14,173 daily observations from 2 January 1970.</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Compared value by value with the SARB Web API (EXCX135D): 9,141 overlapping observations, largest difference 0.000000, 0 mismatches.</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Daily market series joined on when each value became public, with the vintage then current for revised series. Rules and sources are in series_metadata.json.</a:t>
            </a:r>
            <a:endParaRPr lang="en-US" sz="1700" dirty="0"/>
          </a:p>
          <a:p>
            <a:pPr indent="0" marL="0">
              <a:spcAft>
                <a:spcPts val="1500"/>
              </a:spcAft>
              <a:buNone/>
            </a:pPr>
            <a:r>
              <a:rPr lang="en-US" sz="1700" b="1" dirty="0">
                <a:solidFill>
                  <a:srgbClr val="1F2937"/>
                </a:solidFill>
                <a:latin typeface="Arial" pitchFamily="34" charset="0"/>
                <a:ea typeface="Arial" pitchFamily="34" charset="-122"/>
                <a:cs typeface="Arial" pitchFamily="34" charset="-120"/>
              </a:rPr>
              <a:t>Timing check. </a:t>
            </a:r>
            <a:pPr indent="0" marL="0">
              <a:spcAft>
                <a:spcPts val="1500"/>
              </a:spcAft>
              <a:buNone/>
            </a:pPr>
            <a:r>
              <a:rPr lang="en-US" sz="1700" dirty="0">
                <a:solidFill>
                  <a:srgbClr val="1F2937"/>
                </a:solidFill>
                <a:latin typeface="Arial" pitchFamily="34" charset="0"/>
                <a:ea typeface="Arial" pitchFamily="34" charset="-122"/>
                <a:cs typeface="Arial" pitchFamily="34" charset="-120"/>
              </a:rPr>
              <a:t>With every non-spot predictor a week later the combination moves from 0.5599 to 0.5598.</a:t>
            </a:r>
            <a:endParaRPr lang="en-US" sz="1700" dirty="0"/>
          </a:p>
        </p:txBody>
      </p:sp>
      <p:pic>
        <p:nvPicPr>
          <p:cNvPr id="6" name="Image 0" descr="Input series">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Adaptive weights stayed between 0.306 and 0.353, close to equal weighting</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ombination weights over time">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Chosen on 2 January 2015 to 27 November 2020:</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full predictor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The three components' errors are almost the same series (correlation up to 0.99998), so inverse-error weights barely move off one third each. An equal-weight average scores 0.5599 against 0.5599 for the adaptive combination.</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 those scores were used for selection.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Gradient boosting scored 0.5745, the highest of 13 models, for this specification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with a fixed seed. Every 52 weeks, purged cross-validation picks its depth, learning rate, iterations, L2 penalty and leaf size from 12 configurations. Same information set, same embargo and same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can say</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It is 2.2% above the AR(1) and 2.6% above the random walk, and neither difference is significant (p = 0.363, 0.273). With every predictor a week later its RMSE moves from 0.5745 to 0.5638. We have not diagnosed why it does worse, and the result covers this feature set, grid and sample only.</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The M5 accuracy results paper (Makridakis, Spiliotis and Assimakopoulos, 2022) reports that the top methods were ML methods, mostly LightGBM, and that combinations helped.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stay close to the current rate and lag the realised series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Forecasts against the realised rate">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3 June 2022</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926080"/>
                <a:gridCol w="1554480"/>
                <a:gridCol w="4754880"/>
                <a:gridCol w="182880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Gradient boosting</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15.5674</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boosted trees on the same predictors</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-0.7808</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15.4563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+ 0.0377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-0.8919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15.4275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-0.9207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-0.9341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indent="0" marL="0">
                        <a:buNone/>
                      </a:pPr>
                      <a:r>
                        <a:rPr lang="en-US" sz="1400" dirty="0">
                          <a:solidFill>
                            <a:srgbClr val="1F2937"/>
                          </a:solidFill>
                          <a:latin typeface="Arial" pitchFamily="34" charset="0"/>
                          <a:ea typeface="Arial" pitchFamily="34" charset="-122"/>
                          <a:cs typeface="Arial" pitchFamily="34" charset="-120"/>
                        </a:rPr>
                        <a:t>AR(1), log level (benchmark)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towards its long-run level,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84632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3 June 2022, spot R15.4117. Target 1 July 2022, actual R16.3482. Every model forecast too low. The forecasts span 18 cents against an actual move of 94 cents.</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 Rows sorted by forecast.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All 2021 to 2025 results are exploratory; a prospective test needs forecasts made after the design is frozen</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H</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508760"/>
          <a:ext cx="5394960" cy="914400"/>
        </p:xfrm>
        <a:graphic>
          <a:graphicData uri="http://schemas.openxmlformats.org/drawingml/2006/table">
            <a:tbl>
              <a:tblPr/>
              <a:tblGrid>
                <a:gridCol w="1280160"/>
                <a:gridCol w="2194560"/>
                <a:gridCol w="1920240"/>
              </a:tblGrid>
              <a:tr h="457200">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RMSE cut</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AR(1)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500" b="1" dirty="0">
                          <a:solidFill>
                            <a:srgbClr val="FFFFFF"/>
                          </a:solidFill>
                          <a:latin typeface="Arial" pitchFamily="34" charset="0"/>
                          <a:ea typeface="Arial" pitchFamily="34" charset="-122"/>
                          <a:cs typeface="Arial" pitchFamily="34" charset="-120"/>
                        </a:rPr>
                        <a:t>Origins needed vs RW</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680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120</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172</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31</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29</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500" dirty="0">
                          <a:solidFill>
                            <a:srgbClr val="1F2937"/>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3931920"/>
            <a:ext cx="5394960" cy="219456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Two-sided 5% test, 80% power, with the loss differential's spread and the benchmark's MSE held at their 2021 to 2025 values. Against the random walk the counts are small only because the combination and the random walk are nearly the same forecast, so a 1 to 5% cut between them is implausible. Effect sizes are round numbers fixed in advance. The table says nothing about any other forecaster.</a:t>
            </a:r>
            <a:endParaRPr lang="en-US" sz="1400" dirty="0"/>
          </a:p>
        </p:txBody>
      </p:sp>
      <p:sp>
        <p:nvSpPr>
          <p:cNvPr id="7" name="Text 4"/>
          <p:cNvSpPr/>
          <p:nvPr/>
        </p:nvSpPr>
        <p:spPr>
          <a:xfrm>
            <a:off x="6400800"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Protocol</a:t>
            </a:r>
            <a:endParaRPr lang="en-US" sz="2000" dirty="0"/>
          </a:p>
        </p:txBody>
      </p:sp>
      <p:sp>
        <p:nvSpPr>
          <p:cNvPr id="8" name="Text 5"/>
          <p:cNvSpPr/>
          <p:nvPr/>
        </p:nvSpPr>
        <p:spPr>
          <a:xfrm>
            <a:off x="6400800" y="1828800"/>
            <a:ext cx="5212080" cy="4023360"/>
          </a:xfrm>
          <a:prstGeom prst="rect">
            <a:avLst/>
          </a:prstGeom>
          <a:noFill/>
          <a:ln/>
        </p:spPr>
        <p:txBody>
          <a:bodyPr wrap="square" lIns="0" tIns="0" rIns="0" bIns="0" rtlCol="0" anchor="ctr"/>
          <a:lstStyle/>
          <a:p>
            <a:pPr marL="342900" indent="-342900">
              <a:spcAft>
                <a:spcPts val="1200"/>
              </a:spcAft>
              <a:buSzPct val="100000"/>
              <a:buChar char="•"/>
            </a:pPr>
            <a:r>
              <a:rPr lang="en-US" sz="1700" dirty="0">
                <a:solidFill>
                  <a:srgbClr val="1F2937"/>
                </a:solidFill>
                <a:latin typeface="Arial" pitchFamily="34" charset="0"/>
                <a:ea typeface="Arial" pitchFamily="34" charset="-122"/>
                <a:cs typeface="Arial" pitchFamily="34" charset="-120"/>
              </a:rPr>
              <a:t>Freeze the commit, the chosen configuration and the data snapshot before the first new origin.</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Prespecify two tests: combination against the AR(1) and against the random walk.</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Fix the sample size and stop date from the planning table.</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Score each origin once, in a log that is only appended to.</a:t>
            </a:r>
            <a:endParaRPr lang="en-US" sz="1700" dirty="0"/>
          </a:p>
          <a:p>
            <a:pPr indent="0" marL="0">
              <a:spcAft>
                <a:spcPts val="1200"/>
              </a:spcAft>
              <a:buNone/>
            </a:pPr>
            <a:r>
              <a:rPr lang="en-US" sz="1700" dirty="0">
                <a:solidFill>
                  <a:srgbClr val="1F2937"/>
                </a:solidFill>
                <a:latin typeface="Arial" pitchFamily="34" charset="0"/>
                <a:ea typeface="Arial" pitchFamily="34" charset="-122"/>
                <a:cs typeface="Arial" pitchFamily="34" charset="-120"/>
              </a:rPr>
              <a:t>Report the result whatever it is.</a:t>
            </a:r>
            <a:endParaRPr lang="en-US" sz="17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Details in docs/METHODOLOGY.md, section 13.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2026-07-01T00:00:00.000Z</dcterms:created>
  <dcterms:modified xsi:type="dcterms:W3CDTF">2026-07-01T00:00:00.000Z</dcterms:modified>
</cp:coreProperties>
</file>