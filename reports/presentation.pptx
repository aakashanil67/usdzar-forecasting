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[0:00-0:40] We're team Spurious Decision, and the name is the warning we set ourselves. A spurious relationship looks real in your data and isn't there in the world. In FX forecasting that's the default outcome, so the whole project was built to avoid one. At one month the rand is almost a random walk. We didn't try to out-muscle that. We disciplined it. 0.5600 against the benchmark's 0.5624.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[0:40-1:20] The question. Forecast the rand a month ahead, every Friday, five years, beat an AR(1) on RMSE out of sample. Why it's hard: since Meese and Rogoff in 1983, structural FX models lose to a simple no-change forecast at this horizon, and honest published gains are one to five per cent. Our answer is yes, by 0.42 per cent, and we can name the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[1:20-2:15] Three simple pieces. A random walk anchor. A carry tilt from the interest gap. A heavily regularised regression on gold, platinum, the dollar and the VIX. Combined by inverse recent error, so weight moves to whatever is working. On the right is why the numbers hold: information sets, resolved-only training, embargoed weights, settings frozen on 2015 to 2020 before we touched the judged window, and every forecast logged. Nothing here is a black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[2:15-3:15] Why is the benchmark beatable? Its persistence is just below one, so every forecast is pulled toward an implied long-run mean. We computed that mean at all 261 origins. It sat below the actual spot rate at every single one, by 2.11 rand on average. So it leaned downward for five years against a currency going up. The chart is cumulative squared error: above zero we're ahead. The edge builds through the 2022-23 trend, peaks at 1.29, and gives some back. I'd rather show you that than crop it at the peak.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[3:15-4:10] The numbers. Benchmark 0.5624, our combination 0.5600, about 0.42 per cent better. Carry and ridge also beat it, so four of five did. Note the axis starts at 0.50 so the differences are visible, I'd rather say that than have you spot it. Two things. On the robustness cut with targets strictly inside 2025 we lead every model including the random walk. And the one model that loses badly is the gradient booster, by seven and a half per cent, same data, same discipline. That's the M4 and M5 finding and we built it into the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[4:10-4:40] So, four things. The benchmark is beatable and we can say why. The gain is real but small, which is the size of the true signal here. Discipline beat complexity. And what we won't claim: it isn't statistically significant, p is 0.47, the benchmark wins on MAE and in 2025, and we never tested it as a trading strategy. Happy to walk through the code line by line. Are there questions or feedback?  --- LEAVE THIS SLIDE UP FOR Q&amp;A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presented. Here so every source cited on a slide has a full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any numeric question: MAE, directional accuracy, DM p-values, robustness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2025 goes against us because the rand strengthened back toward the AR(1)'s mean, so its bias finally helped. That is regime dependence, and it is the argument for combining rather than picking one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any data or look-ahead-bias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how does the combination adapt, and how do we know settings were frozen.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why didn't you use machine learning, deep learning, or an LSTM. We did, honestly, and here is the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 judge asks to see the forecasts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asked what the model actually does. It is the whole project in one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3B"/>
        </a:solidFill>
      </p:bgPr>
    </p:bg>
    <p:spTree>
      <p:nvGrpSpPr>
        <p:cNvPr id="1" name=""/>
        <p:cNvGrpSpPr/>
        <p:nvPr/>
      </p:nvGrpSpPr>
      <p:grpSpPr>
        <a:xfrm>
          <a:off x="0" y="0"/>
          <a:ext cx="0" cy="0"/>
          <a:chOff x="0" y="0"/>
          <a:chExt cx="0" cy="0"/>
        </a:xfrm>
      </p:grpSpPr>
      <p:sp>
        <p:nvSpPr>
          <p:cNvPr id="2" name="Text 0"/>
          <p:cNvSpPr/>
          <p:nvPr/>
        </p:nvSpPr>
        <p:spPr>
          <a:xfrm>
            <a:off x="822960" y="868680"/>
            <a:ext cx="10515600" cy="1645920"/>
          </a:xfrm>
          <a:prstGeom prst="rect">
            <a:avLst/>
          </a:prstGeom>
          <a:noFill/>
          <a:ln/>
        </p:spPr>
        <p:txBody>
          <a:bodyPr wrap="square" lIns="0" tIns="0" rIns="0" bIns="0" rtlCol="0" anchor="ctr"/>
          <a:lstStyle/>
          <a:p>
            <a:pPr indent="0" marL="0">
              <a:lnSpc>
                <a:spcPct val="105000"/>
              </a:lnSpc>
              <a:buNone/>
            </a:pPr>
            <a:r>
              <a:rPr lang="en-US" sz="4200" b="1" dirty="0">
                <a:solidFill>
                  <a:srgbClr val="FFFFFF"/>
                </a:solidFill>
                <a:latin typeface="Arial" pitchFamily="34" charset="0"/>
                <a:ea typeface="Arial" pitchFamily="34" charset="-122"/>
                <a:cs typeface="Arial" pitchFamily="34" charset="-120"/>
              </a:rPr>
              <a:t>Don't fight the random walk.</a:t>
            </a:r>
            <a:endParaRPr lang="en-US" sz="4200" dirty="0"/>
          </a:p>
          <a:p>
            <a:pPr indent="0" marL="0">
              <a:lnSpc>
                <a:spcPct val="105000"/>
              </a:lnSpc>
              <a:buNone/>
            </a:pPr>
            <a:r>
              <a:rPr lang="en-US" sz="4200" b="1" dirty="0">
                <a:solidFill>
                  <a:srgbClr val="FFFFFF"/>
                </a:solidFill>
                <a:latin typeface="Arial" pitchFamily="34" charset="0"/>
                <a:ea typeface="Arial" pitchFamily="34" charset="-122"/>
                <a:cs typeface="Arial" pitchFamily="34" charset="-120"/>
              </a:rPr>
              <a:t>Discipline it.</a:t>
            </a:r>
            <a:endParaRPr lang="en-US" sz="4200" dirty="0"/>
          </a:p>
        </p:txBody>
      </p:sp>
      <p:sp>
        <p:nvSpPr>
          <p:cNvPr id="3" name="Shape 1"/>
          <p:cNvSpPr/>
          <p:nvPr/>
        </p:nvSpPr>
        <p:spPr>
          <a:xfrm>
            <a:off x="822960" y="2697480"/>
            <a:ext cx="2011680" cy="45720"/>
          </a:xfrm>
          <a:prstGeom prst="rect">
            <a:avLst/>
          </a:prstGeom>
          <a:solidFill>
            <a:srgbClr val="C9A227"/>
          </a:solidFill>
          <a:ln w="12700">
            <a:solidFill>
              <a:srgbClr val="C9A227"/>
            </a:solidFill>
            <a:prstDash val="solid"/>
          </a:ln>
        </p:spPr>
      </p:sp>
      <p:sp>
        <p:nvSpPr>
          <p:cNvPr id="4" name="Text 2"/>
          <p:cNvSpPr/>
          <p:nvPr/>
        </p:nvSpPr>
        <p:spPr>
          <a:xfrm>
            <a:off x="822960" y="2926080"/>
            <a:ext cx="9966960" cy="777240"/>
          </a:xfrm>
          <a:prstGeom prst="rect">
            <a:avLst/>
          </a:prstGeom>
          <a:noFill/>
          <a:ln/>
        </p:spPr>
        <p:txBody>
          <a:bodyPr wrap="square" lIns="0" tIns="0" rIns="0" bIns="0" rtlCol="0" anchor="ctr"/>
          <a:lstStyle/>
          <a:p>
            <a:pPr indent="0" marL="0">
              <a:buNone/>
            </a:pPr>
            <a:r>
              <a:rPr lang="en-US" sz="1900" dirty="0">
                <a:solidFill>
                  <a:srgbClr val="CADCFC"/>
                </a:solidFill>
                <a:latin typeface="Arial" pitchFamily="34" charset="0"/>
                <a:ea typeface="Arial" pitchFamily="34" charset="-122"/>
                <a:cs typeface="Arial" pitchFamily="34" charset="-120"/>
              </a:rPr>
              <a:t>A combination of three simple models forecasts USDZAR one month ahead more accurately than the AR(1) benchmark, over 261 out-of-sample forecasts.</a:t>
            </a:r>
            <a:endParaRPr lang="en-US" sz="1900" dirty="0"/>
          </a:p>
        </p:txBody>
      </p:sp>
      <p:sp>
        <p:nvSpPr>
          <p:cNvPr id="5" name="Text 3"/>
          <p:cNvSpPr/>
          <p:nvPr/>
        </p:nvSpPr>
        <p:spPr>
          <a:xfrm>
            <a:off x="822960" y="3977640"/>
            <a:ext cx="2606040" cy="777240"/>
          </a:xfrm>
          <a:prstGeom prst="rect">
            <a:avLst/>
          </a:prstGeom>
          <a:noFill/>
          <a:ln/>
        </p:spPr>
        <p:txBody>
          <a:bodyPr wrap="square" lIns="0" tIns="0" rIns="0" bIns="0" rtlCol="0" anchor="ctr"/>
          <a:lstStyle/>
          <a:p>
            <a:pPr indent="0" marL="0">
              <a:buNone/>
            </a:pPr>
            <a:r>
              <a:rPr lang="en-US" sz="3400" b="1" dirty="0">
                <a:solidFill>
                  <a:srgbClr val="C9A227"/>
                </a:solidFill>
                <a:latin typeface="Arial" pitchFamily="34" charset="0"/>
                <a:ea typeface="Arial" pitchFamily="34" charset="-122"/>
                <a:cs typeface="Arial" pitchFamily="34" charset="-120"/>
              </a:rPr>
              <a:t>0.5599</a:t>
            </a:r>
            <a:endParaRPr lang="en-US" sz="3400" dirty="0"/>
          </a:p>
        </p:txBody>
      </p:sp>
      <p:sp>
        <p:nvSpPr>
          <p:cNvPr id="6" name="Text 4"/>
          <p:cNvSpPr/>
          <p:nvPr/>
        </p:nvSpPr>
        <p:spPr>
          <a:xfrm>
            <a:off x="822960" y="4736592"/>
            <a:ext cx="2606040" cy="329184"/>
          </a:xfrm>
          <a:prstGeom prst="rect">
            <a:avLst/>
          </a:prstGeom>
          <a:noFill/>
          <a:ln/>
        </p:spPr>
        <p:txBody>
          <a:bodyPr wrap="square" lIns="0" tIns="0" rIns="0" bIns="0" rtlCol="0" anchor="ctr"/>
          <a:lstStyle/>
          <a:p>
            <a:pPr indent="0" marL="0">
              <a:buNone/>
            </a:pPr>
            <a:r>
              <a:rPr lang="en-US" sz="1400" dirty="0">
                <a:solidFill>
                  <a:srgbClr val="CADCFC"/>
                </a:solidFill>
                <a:latin typeface="Arial" pitchFamily="34" charset="0"/>
                <a:ea typeface="Arial" pitchFamily="34" charset="-122"/>
                <a:cs typeface="Arial" pitchFamily="34" charset="-120"/>
              </a:rPr>
              <a:t>our RMSE</a:t>
            </a:r>
            <a:endParaRPr lang="en-US" sz="1400" dirty="0"/>
          </a:p>
        </p:txBody>
      </p:sp>
      <p:sp>
        <p:nvSpPr>
          <p:cNvPr id="7" name="Text 5"/>
          <p:cNvSpPr/>
          <p:nvPr/>
        </p:nvSpPr>
        <p:spPr>
          <a:xfrm>
            <a:off x="3584448" y="3977640"/>
            <a:ext cx="2606040" cy="777240"/>
          </a:xfrm>
          <a:prstGeom prst="rect">
            <a:avLst/>
          </a:prstGeom>
          <a:noFill/>
          <a:ln/>
        </p:spPr>
        <p:txBody>
          <a:bodyPr wrap="square" lIns="0" tIns="0" rIns="0" bIns="0" rtlCol="0" anchor="ctr"/>
          <a:lstStyle/>
          <a:p>
            <a:pPr indent="0" marL="0">
              <a:buNone/>
            </a:pPr>
            <a:r>
              <a:rPr lang="en-US" sz="3400" b="1" dirty="0">
                <a:solidFill>
                  <a:srgbClr val="C9A227"/>
                </a:solidFill>
                <a:latin typeface="Arial" pitchFamily="34" charset="0"/>
                <a:ea typeface="Arial" pitchFamily="34" charset="-122"/>
                <a:cs typeface="Arial" pitchFamily="34" charset="-120"/>
              </a:rPr>
              <a:t>0.5624</a:t>
            </a:r>
            <a:endParaRPr lang="en-US" sz="3400" dirty="0"/>
          </a:p>
        </p:txBody>
      </p:sp>
      <p:sp>
        <p:nvSpPr>
          <p:cNvPr id="8" name="Text 6"/>
          <p:cNvSpPr/>
          <p:nvPr/>
        </p:nvSpPr>
        <p:spPr>
          <a:xfrm>
            <a:off x="3584448" y="4736592"/>
            <a:ext cx="2606040" cy="329184"/>
          </a:xfrm>
          <a:prstGeom prst="rect">
            <a:avLst/>
          </a:prstGeom>
          <a:noFill/>
          <a:ln/>
        </p:spPr>
        <p:txBody>
          <a:bodyPr wrap="square" lIns="0" tIns="0" rIns="0" bIns="0" rtlCol="0" anchor="ctr"/>
          <a:lstStyle/>
          <a:p>
            <a:pPr indent="0" marL="0">
              <a:buNone/>
            </a:pPr>
            <a:r>
              <a:rPr lang="en-US" sz="1400" dirty="0">
                <a:solidFill>
                  <a:srgbClr val="CADCFC"/>
                </a:solidFill>
                <a:latin typeface="Arial" pitchFamily="34" charset="0"/>
                <a:ea typeface="Arial" pitchFamily="34" charset="-122"/>
                <a:cs typeface="Arial" pitchFamily="34" charset="-120"/>
              </a:rPr>
              <a:t>AR(1) benchmark</a:t>
            </a:r>
            <a:endParaRPr lang="en-US" sz="1400" dirty="0"/>
          </a:p>
        </p:txBody>
      </p:sp>
      <p:sp>
        <p:nvSpPr>
          <p:cNvPr id="9" name="Text 7"/>
          <p:cNvSpPr/>
          <p:nvPr/>
        </p:nvSpPr>
        <p:spPr>
          <a:xfrm>
            <a:off x="6345936" y="3977640"/>
            <a:ext cx="2606040" cy="777240"/>
          </a:xfrm>
          <a:prstGeom prst="rect">
            <a:avLst/>
          </a:prstGeom>
          <a:noFill/>
          <a:ln/>
        </p:spPr>
        <p:txBody>
          <a:bodyPr wrap="square" lIns="0" tIns="0" rIns="0" bIns="0" rtlCol="0" anchor="ctr"/>
          <a:lstStyle/>
          <a:p>
            <a:pPr indent="0" marL="0">
              <a:buNone/>
            </a:pPr>
            <a:r>
              <a:rPr lang="en-US" sz="3400" b="1" dirty="0">
                <a:solidFill>
                  <a:srgbClr val="C9A227"/>
                </a:solidFill>
                <a:latin typeface="Arial" pitchFamily="34" charset="0"/>
                <a:ea typeface="Arial" pitchFamily="34" charset="-122"/>
                <a:cs typeface="Arial" pitchFamily="34" charset="-120"/>
              </a:rPr>
              <a:t>+0.44%</a:t>
            </a:r>
            <a:endParaRPr lang="en-US" sz="3400" dirty="0"/>
          </a:p>
        </p:txBody>
      </p:sp>
      <p:sp>
        <p:nvSpPr>
          <p:cNvPr id="10" name="Text 8"/>
          <p:cNvSpPr/>
          <p:nvPr/>
        </p:nvSpPr>
        <p:spPr>
          <a:xfrm>
            <a:off x="6345936" y="4736592"/>
            <a:ext cx="2606040" cy="329184"/>
          </a:xfrm>
          <a:prstGeom prst="rect">
            <a:avLst/>
          </a:prstGeom>
          <a:noFill/>
          <a:ln/>
        </p:spPr>
        <p:txBody>
          <a:bodyPr wrap="square" lIns="0" tIns="0" rIns="0" bIns="0" rtlCol="0" anchor="ctr"/>
          <a:lstStyle/>
          <a:p>
            <a:pPr indent="0" marL="0">
              <a:buNone/>
            </a:pPr>
            <a:r>
              <a:rPr lang="en-US" sz="1400" dirty="0">
                <a:solidFill>
                  <a:srgbClr val="CADCFC"/>
                </a:solidFill>
                <a:latin typeface="Arial" pitchFamily="34" charset="0"/>
                <a:ea typeface="Arial" pitchFamily="34" charset="-122"/>
                <a:cs typeface="Arial" pitchFamily="34" charset="-120"/>
              </a:rPr>
              <a:t>more accurate</a:t>
            </a:r>
            <a:endParaRPr lang="en-US" sz="1400" dirty="0"/>
          </a:p>
        </p:txBody>
      </p:sp>
      <p:sp>
        <p:nvSpPr>
          <p:cNvPr id="11" name="Text 9"/>
          <p:cNvSpPr/>
          <p:nvPr/>
        </p:nvSpPr>
        <p:spPr>
          <a:xfrm>
            <a:off x="9107424" y="3977640"/>
            <a:ext cx="2606040" cy="777240"/>
          </a:xfrm>
          <a:prstGeom prst="rect">
            <a:avLst/>
          </a:prstGeom>
          <a:noFill/>
          <a:ln/>
        </p:spPr>
        <p:txBody>
          <a:bodyPr wrap="square" lIns="0" tIns="0" rIns="0" bIns="0" rtlCol="0" anchor="ctr"/>
          <a:lstStyle/>
          <a:p>
            <a:pPr indent="0" marL="0">
              <a:buNone/>
            </a:pPr>
            <a:r>
              <a:rPr lang="en-US" sz="3400" b="1" dirty="0">
                <a:solidFill>
                  <a:srgbClr val="C9A227"/>
                </a:solidFill>
                <a:latin typeface="Arial" pitchFamily="34" charset="0"/>
                <a:ea typeface="Arial" pitchFamily="34" charset="-122"/>
                <a:cs typeface="Arial" pitchFamily="34" charset="-120"/>
              </a:rPr>
              <a:t>261</a:t>
            </a:r>
            <a:endParaRPr lang="en-US" sz="3400" dirty="0"/>
          </a:p>
        </p:txBody>
      </p:sp>
      <p:sp>
        <p:nvSpPr>
          <p:cNvPr id="12" name="Text 10"/>
          <p:cNvSpPr/>
          <p:nvPr/>
        </p:nvSpPr>
        <p:spPr>
          <a:xfrm>
            <a:off x="9107424" y="4736592"/>
            <a:ext cx="2606040" cy="329184"/>
          </a:xfrm>
          <a:prstGeom prst="rect">
            <a:avLst/>
          </a:prstGeom>
          <a:noFill/>
          <a:ln/>
        </p:spPr>
        <p:txBody>
          <a:bodyPr wrap="square" lIns="0" tIns="0" rIns="0" bIns="0" rtlCol="0" anchor="ctr"/>
          <a:lstStyle/>
          <a:p>
            <a:pPr indent="0" marL="0">
              <a:buNone/>
            </a:pPr>
            <a:r>
              <a:rPr lang="en-US" sz="1400" dirty="0">
                <a:solidFill>
                  <a:srgbClr val="CADCFC"/>
                </a:solidFill>
                <a:latin typeface="Arial" pitchFamily="34" charset="0"/>
                <a:ea typeface="Arial" pitchFamily="34" charset="-122"/>
                <a:cs typeface="Arial" pitchFamily="34" charset="-120"/>
              </a:rPr>
              <a:t>logged forecasts</a:t>
            </a:r>
            <a:endParaRPr lang="en-US" sz="1400" dirty="0"/>
          </a:p>
        </p:txBody>
      </p:sp>
      <p:sp>
        <p:nvSpPr>
          <p:cNvPr id="13" name="Text 11"/>
          <p:cNvSpPr/>
          <p:nvPr/>
        </p:nvSpPr>
        <p:spPr>
          <a:xfrm>
            <a:off x="822960" y="5532120"/>
            <a:ext cx="10058400" cy="91440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Team Spurious Decision</a:t>
            </a:r>
            <a:endParaRPr lang="en-US" sz="1400" dirty="0"/>
          </a:p>
          <a:p>
            <a:pPr indent="0" marL="0">
              <a:buNone/>
            </a:pPr>
            <a:r>
              <a:rPr lang="en-US" sz="1400" dirty="0">
                <a:solidFill>
                  <a:srgbClr val="9FB3C8"/>
                </a:solidFill>
                <a:latin typeface="Arial" pitchFamily="34" charset="0"/>
                <a:ea typeface="Arial" pitchFamily="34" charset="-122"/>
                <a:cs typeface="Arial" pitchFamily="34" charset="-120"/>
              </a:rPr>
              <a:t>Aakash Anil and Stefan von der Heyden, Stellenbosch University</a:t>
            </a:r>
            <a:endParaRPr lang="en-US" sz="1400" dirty="0"/>
          </a:p>
          <a:p>
            <a:pPr indent="0" marL="0">
              <a:buNone/>
            </a:pPr>
            <a:r>
              <a:rPr lang="en-US" sz="1400" dirty="0">
                <a:solidFill>
                  <a:srgbClr val="9FB3C8"/>
                </a:solidFill>
                <a:latin typeface="Arial" pitchFamily="34" charset="0"/>
                <a:ea typeface="Arial" pitchFamily="34" charset="-122"/>
                <a:cs typeface="Arial" pitchFamily="34" charset="-120"/>
              </a:rPr>
              <a:t>SES x Codera Analytics Hackathon, 28 July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914400"/>
          </a:xfrm>
          <a:prstGeom prst="rect">
            <a:avLst/>
          </a:prstGeom>
          <a:noFill/>
          <a:ln/>
        </p:spPr>
        <p:txBody>
          <a:bodyPr wrap="square" lIns="0" tIns="0" rIns="0" bIns="0" rtlCol="0" anchor="t"/>
          <a:lstStyle/>
          <a:p>
            <a:pPr indent="0" marL="0">
              <a:buNone/>
            </a:pPr>
            <a:r>
              <a:rPr lang="en-US" sz="2600" b="1" dirty="0">
                <a:solidFill>
                  <a:srgbClr val="0E2A3B"/>
                </a:solidFill>
                <a:latin typeface="Arial" pitchFamily="34" charset="0"/>
                <a:ea typeface="Arial" pitchFamily="34" charset="-122"/>
                <a:cs typeface="Arial" pitchFamily="34" charset="-120"/>
              </a:rPr>
              <a:t>Can the AR(1) benchmark be beaten out of sample, and can we say why?</a:t>
            </a:r>
            <a:endParaRPr lang="en-US" sz="2600" dirty="0"/>
          </a:p>
        </p:txBody>
      </p:sp>
      <p:sp>
        <p:nvSpPr>
          <p:cNvPr id="3" name="Shape 1"/>
          <p:cNvSpPr/>
          <p:nvPr/>
        </p:nvSpPr>
        <p:spPr>
          <a:xfrm>
            <a:off x="566928" y="1243584"/>
            <a:ext cx="11064240" cy="18288"/>
          </a:xfrm>
          <a:prstGeom prst="rect">
            <a:avLst/>
          </a:prstGeom>
          <a:solidFill>
            <a:srgbClr val="D6DEE6"/>
          </a:solidFill>
          <a:ln w="12700">
            <a:solidFill>
              <a:srgbClr val="D6DEE6"/>
            </a:solidFill>
            <a:prstDash val="solid"/>
          </a:ln>
        </p:spPr>
      </p:sp>
      <p:sp>
        <p:nvSpPr>
          <p:cNvPr id="4" name="Shape 2"/>
          <p:cNvSpPr/>
          <p:nvPr/>
        </p:nvSpPr>
        <p:spPr>
          <a:xfrm>
            <a:off x="1371600" y="1371600"/>
            <a:ext cx="9418320" cy="1600200"/>
          </a:xfrm>
          <a:prstGeom prst="roundRect">
            <a:avLst>
              <a:gd name="adj" fmla="val 5714"/>
            </a:avLst>
          </a:prstGeom>
          <a:solidFill>
            <a:srgbClr val="F1F6F3"/>
          </a:solidFill>
          <a:ln w="12700">
            <a:solidFill>
              <a:srgbClr val="1A7A4A"/>
            </a:solidFill>
            <a:prstDash val="solid"/>
          </a:ln>
        </p:spPr>
      </p:sp>
      <p:sp>
        <p:nvSpPr>
          <p:cNvPr id="5" name="Text 3"/>
          <p:cNvSpPr/>
          <p:nvPr/>
        </p:nvSpPr>
        <p:spPr>
          <a:xfrm>
            <a:off x="1600200" y="1536192"/>
            <a:ext cx="8961120" cy="1280160"/>
          </a:xfrm>
          <a:prstGeom prst="rect">
            <a:avLst/>
          </a:prstGeom>
          <a:noFill/>
          <a:ln/>
        </p:spPr>
        <p:txBody>
          <a:bodyPr wrap="square" lIns="0" tIns="0" rIns="0" bIns="0" rtlCol="0" anchor="ctr"/>
          <a:lstStyle/>
          <a:p>
            <a:pPr algn="ctr" indent="0" marL="0">
              <a:buNone/>
            </a:pPr>
            <a:r>
              <a:rPr lang="en-US" sz="2100" dirty="0">
                <a:solidFill>
                  <a:srgbClr val="0E2A3B"/>
                </a:solidFill>
                <a:latin typeface="Arial" pitchFamily="34" charset="0"/>
                <a:ea typeface="Arial" pitchFamily="34" charset="-122"/>
                <a:cs typeface="Arial" pitchFamily="34" charset="-120"/>
              </a:rPr>
              <a:t>Forecast USDZAR 1 month ahead, every Friday, 1 Jan 2021 to 31 Dec 2025.</a:t>
            </a:r>
            <a:endParaRPr lang="en-US" sz="2100" dirty="0"/>
          </a:p>
          <a:p>
            <a:pPr algn="ctr" indent="0" marL="0">
              <a:buNone/>
            </a:pPr>
            <a:r>
              <a:rPr lang="en-US" sz="2100" dirty="0">
                <a:solidFill>
                  <a:srgbClr val="0E2A3B"/>
                </a:solidFill>
                <a:latin typeface="Arial" pitchFamily="34" charset="0"/>
                <a:ea typeface="Arial" pitchFamily="34" charset="-122"/>
                <a:cs typeface="Arial" pitchFamily="34" charset="-120"/>
              </a:rPr>
              <a:t>Beat an AR(1) on RMSE, out of sample, and explain the mechanism.</a:t>
            </a:r>
            <a:endParaRPr lang="en-US" sz="2100" dirty="0"/>
          </a:p>
        </p:txBody>
      </p:sp>
      <p:sp>
        <p:nvSpPr>
          <p:cNvPr id="6" name="Text 4"/>
          <p:cNvSpPr/>
          <p:nvPr/>
        </p:nvSpPr>
        <p:spPr>
          <a:xfrm>
            <a:off x="566928" y="3291840"/>
            <a:ext cx="11064240" cy="1828800"/>
          </a:xfrm>
          <a:prstGeom prst="rect">
            <a:avLst/>
          </a:prstGeom>
          <a:noFill/>
          <a:ln/>
        </p:spPr>
        <p:txBody>
          <a:bodyPr wrap="square" lIns="0" tIns="0" rIns="0" bIns="0" rtlCol="0" anchor="ctr"/>
          <a:lstStyle/>
          <a:p>
            <a:pPr marL="342900" indent="-342900">
              <a:spcAft>
                <a:spcPts val="1600"/>
              </a:spcAft>
              <a:buSzPct val="100000"/>
              <a:buChar char="•"/>
            </a:pPr>
            <a:r>
              <a:rPr lang="en-US" sz="2000" b="1" dirty="0">
                <a:solidFill>
                  <a:srgbClr val="1F2937"/>
                </a:solidFill>
                <a:latin typeface="Arial" pitchFamily="34" charset="0"/>
                <a:ea typeface="Arial" pitchFamily="34" charset="-122"/>
                <a:cs typeface="Arial" pitchFamily="34" charset="-120"/>
              </a:rPr>
              <a:t>Why it is hard. </a:t>
            </a:r>
            <a:pPr indent="0" marL="0">
              <a:spcAft>
                <a:spcPts val="1600"/>
              </a:spcAft>
              <a:buNone/>
            </a:pPr>
            <a:r>
              <a:rPr lang="en-US" sz="2000" dirty="0">
                <a:solidFill>
                  <a:srgbClr val="1F2937"/>
                </a:solidFill>
                <a:latin typeface="Arial" pitchFamily="34" charset="0"/>
                <a:ea typeface="Arial" pitchFamily="34" charset="-122"/>
                <a:cs typeface="Arial" pitchFamily="34" charset="-120"/>
              </a:rPr>
              <a:t>Since Meese and Rogoff (1983), structural FX models lose to a no-change forecast at this horizon. Honest published gains run 1 to 5% (Rossi 2013).</a:t>
            </a:r>
            <a:endParaRPr lang="en-US" sz="2000" dirty="0"/>
          </a:p>
          <a:p>
            <a:pPr indent="0" marL="0">
              <a:spcAft>
                <a:spcPts val="1600"/>
              </a:spcAft>
              <a:buNone/>
            </a:pPr>
            <a:r>
              <a:rPr lang="en-US" sz="2000" b="1" dirty="0">
                <a:solidFill>
                  <a:srgbClr val="1F2937"/>
                </a:solidFill>
                <a:latin typeface="Arial" pitchFamily="34" charset="0"/>
                <a:ea typeface="Arial" pitchFamily="34" charset="-122"/>
                <a:cs typeface="Arial" pitchFamily="34" charset="-120"/>
              </a:rPr>
              <a:t>Our answer. </a:t>
            </a:r>
            <a:pPr indent="0" marL="0">
              <a:spcAft>
                <a:spcPts val="1600"/>
              </a:spcAft>
              <a:buNone/>
            </a:pPr>
            <a:r>
              <a:rPr lang="en-US" sz="2000" dirty="0">
                <a:solidFill>
                  <a:srgbClr val="1F2937"/>
                </a:solidFill>
                <a:latin typeface="Arial" pitchFamily="34" charset="0"/>
                <a:ea typeface="Arial" pitchFamily="34" charset="-122"/>
                <a:cs typeface="Arial" pitchFamily="34" charset="-120"/>
              </a:rPr>
              <a:t>Yes, by 0.42%, and the mechanism is a measurable bias in the benchmark itself.</a:t>
            </a:r>
            <a:endParaRPr lang="en-US" sz="2000" dirty="0"/>
          </a:p>
        </p:txBody>
      </p:sp>
      <p:sp>
        <p:nvSpPr>
          <p:cNvPr id="7" name="Text 5"/>
          <p:cNvSpPr/>
          <p:nvPr/>
        </p:nvSpPr>
        <p:spPr>
          <a:xfrm>
            <a:off x="566928" y="6327648"/>
            <a:ext cx="11064240" cy="274320"/>
          </a:xfrm>
          <a:prstGeom prst="rect">
            <a:avLst/>
          </a:prstGeom>
          <a:noFill/>
          <a:ln/>
        </p:spPr>
        <p:txBody>
          <a:bodyPr wrap="square" lIns="0" tIns="0" rIns="0" bIns="0" rtlCol="0" anchor="ctr"/>
          <a:lstStyle/>
          <a:p>
            <a:pPr indent="0" marL="0">
              <a:buNone/>
            </a:pPr>
            <a:r>
              <a:rPr lang="en-US" sz="1300" dirty="0">
                <a:solidFill>
                  <a:srgbClr val="6B7280"/>
                </a:solidFill>
                <a:latin typeface="Arial" pitchFamily="34" charset="0"/>
                <a:ea typeface="Arial" pitchFamily="34" charset="-122"/>
                <a:cs typeface="Arial" pitchFamily="34" charset="-120"/>
              </a:rPr>
              <a:t>Meese &amp; Rogoff (1983), J. Int. Econ.; Rossi (2013), J. Econ. Lit. Full references on the references slide.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914400"/>
          </a:xfrm>
          <a:prstGeom prst="rect">
            <a:avLst/>
          </a:prstGeom>
          <a:noFill/>
          <a:ln/>
        </p:spPr>
        <p:txBody>
          <a:bodyPr wrap="square" lIns="0" tIns="0" rIns="0" bIns="0" rtlCol="0" anchor="t"/>
          <a:lstStyle/>
          <a:p>
            <a:pPr indent="0" marL="0">
              <a:buNone/>
            </a:pPr>
            <a:r>
              <a:rPr lang="en-US" sz="2600" b="1" dirty="0">
                <a:solidFill>
                  <a:srgbClr val="0E2A3B"/>
                </a:solidFill>
                <a:latin typeface="Arial" pitchFamily="34" charset="0"/>
                <a:ea typeface="Arial" pitchFamily="34" charset="-122"/>
                <a:cs typeface="Arial" pitchFamily="34" charset="-120"/>
              </a:rPr>
              <a:t>Three simple models combined by recent accuracy, with every setting frozen before we saw the judged window</a:t>
            </a:r>
            <a:endParaRPr lang="en-US" sz="2600" dirty="0"/>
          </a:p>
        </p:txBody>
      </p:sp>
      <p:sp>
        <p:nvSpPr>
          <p:cNvPr id="3" name="Shape 1"/>
          <p:cNvSpPr/>
          <p:nvPr/>
        </p:nvSpPr>
        <p:spPr>
          <a:xfrm>
            <a:off x="566928" y="1243584"/>
            <a:ext cx="11064240" cy="18288"/>
          </a:xfrm>
          <a:prstGeom prst="rect">
            <a:avLst/>
          </a:prstGeom>
          <a:solidFill>
            <a:srgbClr val="D6DEE6"/>
          </a:solidFill>
          <a:ln w="12700">
            <a:solidFill>
              <a:srgbClr val="D6DEE6"/>
            </a:solidFill>
            <a:prstDash val="solid"/>
          </a:ln>
        </p:spPr>
      </p:sp>
      <p:sp>
        <p:nvSpPr>
          <p:cNvPr id="4" name="Text 2"/>
          <p:cNvSpPr/>
          <p:nvPr/>
        </p:nvSpPr>
        <p:spPr>
          <a:xfrm>
            <a:off x="566928" y="1417320"/>
            <a:ext cx="5120640" cy="310896"/>
          </a:xfrm>
          <a:prstGeom prst="rect">
            <a:avLst/>
          </a:prstGeom>
          <a:noFill/>
          <a:ln/>
        </p:spPr>
        <p:txBody>
          <a:bodyPr wrap="square" lIns="0" tIns="0" rIns="0" bIns="0" rtlCol="0" anchor="ctr"/>
          <a:lstStyle/>
          <a:p>
            <a:pPr indent="0" marL="0">
              <a:buNone/>
            </a:pPr>
            <a:r>
              <a:rPr lang="en-US" sz="2000" b="1" dirty="0">
                <a:solidFill>
                  <a:srgbClr val="1A7A4A"/>
                </a:solidFill>
                <a:latin typeface="Arial" pitchFamily="34" charset="0"/>
                <a:ea typeface="Arial" pitchFamily="34" charset="-122"/>
                <a:cs typeface="Arial" pitchFamily="34" charset="-120"/>
              </a:rPr>
              <a:t>The model</a:t>
            </a:r>
            <a:endParaRPr lang="en-US" sz="2000" dirty="0"/>
          </a:p>
        </p:txBody>
      </p:sp>
      <p:sp>
        <p:nvSpPr>
          <p:cNvPr id="5" name="Text 3"/>
          <p:cNvSpPr/>
          <p:nvPr/>
        </p:nvSpPr>
        <p:spPr>
          <a:xfrm>
            <a:off x="566928" y="1810512"/>
            <a:ext cx="5212080" cy="2743200"/>
          </a:xfrm>
          <a:prstGeom prst="rect">
            <a:avLst/>
          </a:prstGeom>
          <a:noFill/>
          <a:ln/>
        </p:spPr>
        <p:txBody>
          <a:bodyPr wrap="square" lIns="0" tIns="0" rIns="0" bIns="0" rtlCol="0" anchor="ctr"/>
          <a:lstStyle/>
          <a:p>
            <a:pPr marL="342900" indent="-342900">
              <a:spcAft>
                <a:spcPts val="1300"/>
              </a:spcAft>
              <a:buSzPct val="100000"/>
              <a:buChar char="•"/>
            </a:pPr>
            <a:r>
              <a:rPr lang="en-US" sz="2000" b="1" dirty="0">
                <a:solidFill>
                  <a:srgbClr val="1F2937"/>
                </a:solidFill>
                <a:latin typeface="Arial" pitchFamily="34" charset="0"/>
                <a:ea typeface="Arial" pitchFamily="34" charset="-122"/>
                <a:cs typeface="Arial" pitchFamily="34" charset="-120"/>
              </a:rPr>
              <a:t>Random walk. </a:t>
            </a:r>
            <a:pPr indent="0" marL="0">
              <a:spcAft>
                <a:spcPts val="1300"/>
              </a:spcAft>
              <a:buNone/>
            </a:pPr>
            <a:r>
              <a:rPr lang="en-US" sz="2000" dirty="0">
                <a:solidFill>
                  <a:srgbClr val="1F2937"/>
                </a:solidFill>
                <a:latin typeface="Arial" pitchFamily="34" charset="0"/>
                <a:ea typeface="Arial" pitchFamily="34" charset="-122"/>
                <a:cs typeface="Arial" pitchFamily="34" charset="-120"/>
              </a:rPr>
              <a:t>No change. The anchor.</a:t>
            </a:r>
            <a:endParaRPr lang="en-US" sz="2000" dirty="0"/>
          </a:p>
          <a:p>
            <a:pPr indent="0" marL="0">
              <a:spcAft>
                <a:spcPts val="1300"/>
              </a:spcAft>
              <a:buNone/>
            </a:pPr>
            <a:r>
              <a:rPr lang="en-US" sz="2000" b="1" dirty="0">
                <a:solidFill>
                  <a:srgbClr val="1F2937"/>
                </a:solidFill>
                <a:latin typeface="Arial" pitchFamily="34" charset="0"/>
                <a:ea typeface="Arial" pitchFamily="34" charset="-122"/>
                <a:cs typeface="Arial" pitchFamily="34" charset="-120"/>
              </a:rPr>
              <a:t>Carry. </a:t>
            </a:r>
            <a:pPr indent="0" marL="0">
              <a:spcAft>
                <a:spcPts val="1300"/>
              </a:spcAft>
              <a:buNone/>
            </a:pPr>
            <a:r>
              <a:rPr lang="en-US" sz="2000" dirty="0">
                <a:solidFill>
                  <a:srgbClr val="1F2937"/>
                </a:solidFill>
                <a:latin typeface="Arial" pitchFamily="34" charset="0"/>
                <a:ea typeface="Arial" pitchFamily="34" charset="-122"/>
                <a:cs typeface="Arial" pitchFamily="34" charset="-120"/>
              </a:rPr>
              <a:t>Tilt by the JIBAR minus US T-bill gap.</a:t>
            </a:r>
            <a:endParaRPr lang="en-US" sz="2000" dirty="0"/>
          </a:p>
          <a:p>
            <a:pPr indent="0" marL="0">
              <a:spcAft>
                <a:spcPts val="1300"/>
              </a:spcAft>
              <a:buNone/>
            </a:pPr>
            <a:r>
              <a:rPr lang="en-US" sz="2000" b="1" dirty="0">
                <a:solidFill>
                  <a:srgbClr val="1F2937"/>
                </a:solidFill>
                <a:latin typeface="Arial" pitchFamily="34" charset="0"/>
                <a:ea typeface="Arial" pitchFamily="34" charset="-122"/>
                <a:cs typeface="Arial" pitchFamily="34" charset="-120"/>
              </a:rPr>
              <a:t>Ridge. </a:t>
            </a:r>
            <a:pPr indent="0" marL="0">
              <a:spcAft>
                <a:spcPts val="1300"/>
              </a:spcAft>
              <a:buNone/>
            </a:pPr>
            <a:r>
              <a:rPr lang="en-US" sz="2000" dirty="0">
                <a:solidFill>
                  <a:srgbClr val="1F2937"/>
                </a:solidFill>
                <a:latin typeface="Arial" pitchFamily="34" charset="0"/>
                <a:ea typeface="Arial" pitchFamily="34" charset="-122"/>
                <a:cs typeface="Arial" pitchFamily="34" charset="-120"/>
              </a:rPr>
              <a:t>Gold, platinum, dollar, VIX. Heavily shrunk.</a:t>
            </a:r>
            <a:endParaRPr lang="en-US" sz="2000" dirty="0"/>
          </a:p>
          <a:p>
            <a:pPr indent="0" marL="0">
              <a:spcAft>
                <a:spcPts val="1300"/>
              </a:spcAft>
              <a:buNone/>
            </a:pPr>
            <a:r>
              <a:rPr lang="en-US" sz="2000" b="1" dirty="0">
                <a:solidFill>
                  <a:srgbClr val="1F2937"/>
                </a:solidFill>
                <a:latin typeface="Arial" pitchFamily="34" charset="0"/>
                <a:ea typeface="Arial" pitchFamily="34" charset="-122"/>
                <a:cs typeface="Arial" pitchFamily="34" charset="-120"/>
              </a:rPr>
              <a:t>Weights. </a:t>
            </a:r>
            <a:pPr indent="0" marL="0">
              <a:spcAft>
                <a:spcPts val="1300"/>
              </a:spcAft>
              <a:buNone/>
            </a:pPr>
            <a:r>
              <a:rPr lang="en-US" sz="2000" dirty="0">
                <a:solidFill>
                  <a:srgbClr val="1F2937"/>
                </a:solidFill>
                <a:latin typeface="Arial" pitchFamily="34" charset="0"/>
                <a:ea typeface="Arial" pitchFamily="34" charset="-122"/>
                <a:cs typeface="Arial" pitchFamily="34" charset="-120"/>
              </a:rPr>
              <a:t>Inverse recent out-of-sample error.</a:t>
            </a:r>
            <a:endParaRPr lang="en-US" sz="2000" dirty="0"/>
          </a:p>
        </p:txBody>
      </p:sp>
      <p:sp>
        <p:nvSpPr>
          <p:cNvPr id="6" name="Text 4"/>
          <p:cNvSpPr/>
          <p:nvPr/>
        </p:nvSpPr>
        <p:spPr>
          <a:xfrm>
            <a:off x="6309360" y="1417320"/>
            <a:ext cx="5303520" cy="310896"/>
          </a:xfrm>
          <a:prstGeom prst="rect">
            <a:avLst/>
          </a:prstGeom>
          <a:noFill/>
          <a:ln/>
        </p:spPr>
        <p:txBody>
          <a:bodyPr wrap="square" lIns="0" tIns="0" rIns="0" bIns="0" rtlCol="0" anchor="ctr"/>
          <a:lstStyle/>
          <a:p>
            <a:pPr indent="0" marL="0">
              <a:buNone/>
            </a:pPr>
            <a:r>
              <a:rPr lang="en-US" sz="2000" b="1" dirty="0">
                <a:solidFill>
                  <a:srgbClr val="1A7A4A"/>
                </a:solidFill>
                <a:latin typeface="Arial" pitchFamily="34" charset="0"/>
                <a:ea typeface="Arial" pitchFamily="34" charset="-122"/>
                <a:cs typeface="Arial" pitchFamily="34" charset="-120"/>
              </a:rPr>
              <a:t>Why the numbers hold</a:t>
            </a:r>
            <a:endParaRPr lang="en-US" sz="2000" dirty="0"/>
          </a:p>
        </p:txBody>
      </p:sp>
      <p:sp>
        <p:nvSpPr>
          <p:cNvPr id="7" name="Text 5"/>
          <p:cNvSpPr/>
          <p:nvPr/>
        </p:nvSpPr>
        <p:spPr>
          <a:xfrm>
            <a:off x="6309360" y="1810512"/>
            <a:ext cx="5303520" cy="2743200"/>
          </a:xfrm>
          <a:prstGeom prst="rect">
            <a:avLst/>
          </a:prstGeom>
          <a:noFill/>
          <a:ln/>
        </p:spPr>
        <p:txBody>
          <a:bodyPr wrap="square" lIns="0" tIns="0" rIns="0" bIns="0" rtlCol="0" anchor="ctr"/>
          <a:lstStyle/>
          <a:p>
            <a:pPr marL="342900" indent="-342900">
              <a:spcAft>
                <a:spcPts val="1300"/>
              </a:spcAft>
              <a:buSzPct val="100000"/>
              <a:buChar char="•"/>
            </a:pPr>
            <a:r>
              <a:rPr lang="en-US" sz="2000" dirty="0">
                <a:solidFill>
                  <a:srgbClr val="1F2937"/>
                </a:solidFill>
                <a:latin typeface="Arial" pitchFamily="34" charset="0"/>
                <a:ea typeface="Arial" pitchFamily="34" charset="-122"/>
                <a:cs typeface="Arial" pitchFamily="34" charset="-120"/>
              </a:rPr>
              <a:t>Inputs dated on or before each Friday.</a:t>
            </a:r>
            <a:endParaRPr lang="en-US" sz="2000" dirty="0"/>
          </a:p>
          <a:p>
            <a:pPr indent="0" marL="0">
              <a:spcAft>
                <a:spcPts val="1300"/>
              </a:spcAft>
              <a:buNone/>
            </a:pPr>
            <a:r>
              <a:rPr lang="en-US" sz="2000" dirty="0">
                <a:solidFill>
                  <a:srgbClr val="1F2937"/>
                </a:solidFill>
                <a:latin typeface="Arial" pitchFamily="34" charset="0"/>
                <a:ea typeface="Arial" pitchFamily="34" charset="-122"/>
                <a:cs typeface="Arial" pitchFamily="34" charset="-120"/>
              </a:rPr>
              <a:t>Training only on already-resolved outcomes.</a:t>
            </a:r>
            <a:endParaRPr lang="en-US" sz="2000" dirty="0"/>
          </a:p>
          <a:p>
            <a:pPr indent="0" marL="0">
              <a:spcAft>
                <a:spcPts val="1300"/>
              </a:spcAft>
              <a:buNone/>
            </a:pPr>
            <a:r>
              <a:rPr lang="en-US" sz="2000" dirty="0">
                <a:solidFill>
                  <a:srgbClr val="1F2937"/>
                </a:solidFill>
                <a:latin typeface="Arial" pitchFamily="34" charset="0"/>
                <a:ea typeface="Arial" pitchFamily="34" charset="-122"/>
                <a:cs typeface="Arial" pitchFamily="34" charset="-120"/>
              </a:rPr>
              <a:t>Weights embargoed by 28 days.</a:t>
            </a:r>
            <a:endParaRPr lang="en-US" sz="2000" dirty="0"/>
          </a:p>
          <a:p>
            <a:pPr indent="0" marL="0">
              <a:spcAft>
                <a:spcPts val="1300"/>
              </a:spcAft>
              <a:buNone/>
            </a:pPr>
            <a:r>
              <a:rPr lang="en-US" sz="2000" dirty="0">
                <a:solidFill>
                  <a:srgbClr val="1F2937"/>
                </a:solidFill>
                <a:latin typeface="Arial" pitchFamily="34" charset="0"/>
                <a:ea typeface="Arial" pitchFamily="34" charset="-122"/>
                <a:cs typeface="Arial" pitchFamily="34" charset="-120"/>
              </a:rPr>
              <a:t>All settings frozen on 2015 to 2020.</a:t>
            </a:r>
            <a:endParaRPr lang="en-US" sz="2000" dirty="0"/>
          </a:p>
          <a:p>
            <a:pPr indent="0" marL="0">
              <a:spcAft>
                <a:spcPts val="1300"/>
              </a:spcAft>
              <a:buNone/>
            </a:pPr>
            <a:r>
              <a:rPr lang="en-US" sz="2000" dirty="0">
                <a:solidFill>
                  <a:srgbClr val="1F2937"/>
                </a:solidFill>
                <a:latin typeface="Arial" pitchFamily="34" charset="0"/>
                <a:ea typeface="Arial" pitchFamily="34" charset="-122"/>
                <a:cs typeface="Arial" pitchFamily="34" charset="-120"/>
              </a:rPr>
              <a:t>All 261 forecasts logged. Audit any one.</a:t>
            </a:r>
            <a:endParaRPr lang="en-US" sz="2000" dirty="0"/>
          </a:p>
        </p:txBody>
      </p:sp>
      <p:sp>
        <p:nvSpPr>
          <p:cNvPr id="8" name="Shape 6"/>
          <p:cNvSpPr/>
          <p:nvPr/>
        </p:nvSpPr>
        <p:spPr>
          <a:xfrm>
            <a:off x="566928" y="4800600"/>
            <a:ext cx="11064240" cy="1051560"/>
          </a:xfrm>
          <a:prstGeom prst="roundRect">
            <a:avLst>
              <a:gd name="adj" fmla="val 6957"/>
            </a:avLst>
          </a:prstGeom>
          <a:solidFill>
            <a:srgbClr val="0E2A3B"/>
          </a:solidFill>
          <a:ln w="12700">
            <a:solidFill>
              <a:srgbClr val="0E2A3B"/>
            </a:solidFill>
            <a:prstDash val="solid"/>
          </a:ln>
        </p:spPr>
      </p:sp>
      <p:sp>
        <p:nvSpPr>
          <p:cNvPr id="9" name="Text 7"/>
          <p:cNvSpPr/>
          <p:nvPr/>
        </p:nvSpPr>
        <p:spPr>
          <a:xfrm>
            <a:off x="868680" y="4956048"/>
            <a:ext cx="1051560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Nothing here is a black box. </a:t>
            </a:r>
            <a:pPr indent="0" marL="0">
              <a:buNone/>
            </a:pPr>
            <a:r>
              <a:rPr lang="en-US" sz="1800" dirty="0">
                <a:solidFill>
                  <a:srgbClr val="CADCFC"/>
                </a:solidFill>
                <a:latin typeface="Arial" pitchFamily="34" charset="0"/>
                <a:ea typeface="Arial" pitchFamily="34" charset="-122"/>
                <a:cs typeface="Arial" pitchFamily="34" charset="-120"/>
              </a:rPr>
              <a:t>OLS, ridge regression and a weighted average. We can derive every component by hand under questioning.</a:t>
            </a:r>
            <a:endParaRPr lang="en-US" sz="1800" dirty="0"/>
          </a:p>
        </p:txBody>
      </p:sp>
      <p:sp>
        <p:nvSpPr>
          <p:cNvPr id="10" name="Text 8"/>
          <p:cNvSpPr/>
          <p:nvPr/>
        </p:nvSpPr>
        <p:spPr>
          <a:xfrm>
            <a:off x="566928" y="6327648"/>
            <a:ext cx="11064240" cy="274320"/>
          </a:xfrm>
          <a:prstGeom prst="rect">
            <a:avLst/>
          </a:prstGeom>
          <a:noFill/>
          <a:ln/>
        </p:spPr>
        <p:txBody>
          <a:bodyPr wrap="square" lIns="0" tIns="0" rIns="0" bIns="0" rtlCol="0" anchor="ctr"/>
          <a:lstStyle/>
          <a:p>
            <a:pPr indent="0" marL="0">
              <a:buNone/>
            </a:pPr>
            <a:r>
              <a:rPr lang="en-US" sz="1300" dirty="0">
                <a:solidFill>
                  <a:srgbClr val="6B7280"/>
                </a:solidFill>
                <a:latin typeface="Arial" pitchFamily="34" charset="0"/>
                <a:ea typeface="Arial" pitchFamily="34" charset="-122"/>
                <a:cs typeface="Arial" pitchFamily="34" charset="-120"/>
              </a:rPr>
              <a:t>Data: SARB EXCX135 via EconData (MARKET_RATES 1.0.0); JIBAR, SARB; US T-bill, VIX, dollar index, Brent, FRED; platinum, NYMEX.</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914400"/>
          </a:xfrm>
          <a:prstGeom prst="rect">
            <a:avLst/>
          </a:prstGeom>
          <a:noFill/>
          <a:ln/>
        </p:spPr>
        <p:txBody>
          <a:bodyPr wrap="square" lIns="0" tIns="0" rIns="0" bIns="0" rtlCol="0" anchor="t"/>
          <a:lstStyle/>
          <a:p>
            <a:pPr indent="0" marL="0">
              <a:buNone/>
            </a:pPr>
            <a:r>
              <a:rPr lang="en-US" sz="2600" b="1" dirty="0">
                <a:solidFill>
                  <a:srgbClr val="0E2A3B"/>
                </a:solidFill>
                <a:latin typeface="Arial" pitchFamily="34" charset="0"/>
                <a:ea typeface="Arial" pitchFamily="34" charset="-122"/>
                <a:cs typeface="Arial" pitchFamily="34" charset="-120"/>
              </a:rPr>
              <a:t>The AR(1)'s implied long-run mean sat below the market at all 261 origins</a:t>
            </a:r>
            <a:endParaRPr lang="en-US" sz="2600" dirty="0"/>
          </a:p>
        </p:txBody>
      </p:sp>
      <p:sp>
        <p:nvSpPr>
          <p:cNvPr id="3" name="Shape 1"/>
          <p:cNvSpPr/>
          <p:nvPr/>
        </p:nvSpPr>
        <p:spPr>
          <a:xfrm>
            <a:off x="566928" y="1243584"/>
            <a:ext cx="11064240" cy="18288"/>
          </a:xfrm>
          <a:prstGeom prst="rect">
            <a:avLst/>
          </a:prstGeom>
          <a:solidFill>
            <a:srgbClr val="D6DEE6"/>
          </a:solidFill>
          <a:ln w="12700">
            <a:solidFill>
              <a:srgbClr val="D6DEE6"/>
            </a:solidFill>
            <a:prstDash val="solid"/>
          </a:ln>
        </p:spPr>
      </p:sp>
      <p:pic>
        <p:nvPicPr>
          <p:cNvPr id="4" name="Image 0" descr="C:\Users\aakas\Documents\Projects\Hackathon\figures\presentation\cumse.png">    </p:cNvPr>
          <p:cNvPicPr>
            <a:picLocks noChangeAspect="1"/>
          </p:cNvPicPr>
          <p:nvPr/>
        </p:nvPicPr>
        <p:blipFill>
          <a:blip r:embed="rId1"/>
          <a:stretch>
            <a:fillRect/>
          </a:stretch>
        </p:blipFill>
        <p:spPr>
          <a:xfrm>
            <a:off x="566928" y="1371600"/>
            <a:ext cx="6949440" cy="3931920"/>
          </a:xfrm>
          <a:prstGeom prst="rect">
            <a:avLst/>
          </a:prstGeom>
        </p:spPr>
      </p:pic>
      <p:sp>
        <p:nvSpPr>
          <p:cNvPr id="5" name="Text 2"/>
          <p:cNvSpPr/>
          <p:nvPr/>
        </p:nvSpPr>
        <p:spPr>
          <a:xfrm>
            <a:off x="7772400" y="1417320"/>
            <a:ext cx="3931920" cy="310896"/>
          </a:xfrm>
          <a:prstGeom prst="rect">
            <a:avLst/>
          </a:prstGeom>
          <a:noFill/>
          <a:ln/>
        </p:spPr>
        <p:txBody>
          <a:bodyPr wrap="square" lIns="0" tIns="0" rIns="0" bIns="0" rtlCol="0" anchor="ctr"/>
          <a:lstStyle/>
          <a:p>
            <a:pPr indent="0" marL="0">
              <a:buNone/>
            </a:pPr>
            <a:r>
              <a:rPr lang="en-US" sz="2000" b="1" dirty="0">
                <a:solidFill>
                  <a:srgbClr val="1A7A4A"/>
                </a:solidFill>
                <a:latin typeface="Arial" pitchFamily="34" charset="0"/>
                <a:ea typeface="Arial" pitchFamily="34" charset="-122"/>
                <a:cs typeface="Arial" pitchFamily="34" charset="-120"/>
              </a:rPr>
              <a:t>What to take away</a:t>
            </a:r>
            <a:endParaRPr lang="en-US" sz="2000" dirty="0"/>
          </a:p>
        </p:txBody>
      </p:sp>
      <p:sp>
        <p:nvSpPr>
          <p:cNvPr id="6" name="Text 3"/>
          <p:cNvSpPr/>
          <p:nvPr/>
        </p:nvSpPr>
        <p:spPr>
          <a:xfrm>
            <a:off x="7772400" y="1828800"/>
            <a:ext cx="3931920" cy="2926080"/>
          </a:xfrm>
          <a:prstGeom prst="rect">
            <a:avLst/>
          </a:prstGeom>
          <a:noFill/>
          <a:ln/>
        </p:spPr>
        <p:txBody>
          <a:bodyPr wrap="square" lIns="0" tIns="0" rIns="0" bIns="0" rtlCol="0" anchor="ctr"/>
          <a:lstStyle/>
          <a:p>
            <a:pPr marL="342900" indent="-342900">
              <a:spcAft>
                <a:spcPts val="1400"/>
              </a:spcAft>
              <a:buSzPct val="100000"/>
              <a:buChar char="•"/>
            </a:pPr>
            <a:r>
              <a:rPr lang="en-US" sz="1800" dirty="0">
                <a:solidFill>
                  <a:srgbClr val="1F2937"/>
                </a:solidFill>
                <a:latin typeface="Arial" pitchFamily="34" charset="0"/>
                <a:ea typeface="Arial" pitchFamily="34" charset="-122"/>
                <a:cs typeface="Arial" pitchFamily="34" charset="-120"/>
              </a:rPr>
              <a:t>Persistence 0.997 to 0.999, just below one, so each forecast is pulled toward c/(1-phi).</a:t>
            </a:r>
            <a:endParaRPr lang="en-US" sz="1800" dirty="0"/>
          </a:p>
          <a:p>
            <a:pPr indent="0" marL="0">
              <a:spcAft>
                <a:spcPts val="1400"/>
              </a:spcAft>
              <a:buNone/>
            </a:pPr>
            <a:r>
              <a:rPr lang="en-US" sz="1800" dirty="0">
                <a:solidFill>
                  <a:srgbClr val="1F2937"/>
                </a:solidFill>
                <a:latin typeface="Arial" pitchFamily="34" charset="0"/>
                <a:ea typeface="Arial" pitchFamily="34" charset="-122"/>
                <a:cs typeface="Arial" pitchFamily="34" charset="-120"/>
              </a:rPr>
              <a:t>That mean ranged R11.80 to R19.18 and sat BELOW spot at 261 of 261 origins, by R2.11 on average.</a:t>
            </a:r>
            <a:endParaRPr lang="en-US" sz="1800" dirty="0"/>
          </a:p>
          <a:p>
            <a:pPr indent="0" marL="0">
              <a:spcAft>
                <a:spcPts val="1400"/>
              </a:spcAft>
              <a:buNone/>
            </a:pPr>
            <a:r>
              <a:rPr lang="en-US" sz="1800" dirty="0">
                <a:solidFill>
                  <a:srgbClr val="1F2937"/>
                </a:solidFill>
                <a:latin typeface="Arial" pitchFamily="34" charset="0"/>
                <a:ea typeface="Arial" pitchFamily="34" charset="-122"/>
                <a:cs typeface="Arial" pitchFamily="34" charset="-120"/>
              </a:rPr>
              <a:t>A downward lean against a rand that rose from R14.62 to R19.74.</a:t>
            </a:r>
            <a:endParaRPr lang="en-US" sz="1800" dirty="0"/>
          </a:p>
        </p:txBody>
      </p:sp>
      <p:sp>
        <p:nvSpPr>
          <p:cNvPr id="7" name="Shape 4"/>
          <p:cNvSpPr/>
          <p:nvPr/>
        </p:nvSpPr>
        <p:spPr>
          <a:xfrm>
            <a:off x="7772400" y="4709160"/>
            <a:ext cx="3931920" cy="1234440"/>
          </a:xfrm>
          <a:prstGeom prst="roundRect">
            <a:avLst>
              <a:gd name="adj" fmla="val 5926"/>
            </a:avLst>
          </a:prstGeom>
          <a:solidFill>
            <a:srgbClr val="FFF2CC"/>
          </a:solidFill>
          <a:ln w="12700">
            <a:solidFill>
              <a:srgbClr val="E6C800"/>
            </a:solidFill>
            <a:prstDash val="solid"/>
          </a:ln>
        </p:spPr>
      </p:sp>
      <p:sp>
        <p:nvSpPr>
          <p:cNvPr id="8" name="Text 5"/>
          <p:cNvSpPr/>
          <p:nvPr/>
        </p:nvSpPr>
        <p:spPr>
          <a:xfrm>
            <a:off x="7909560" y="4828032"/>
            <a:ext cx="3657600" cy="1005840"/>
          </a:xfrm>
          <a:prstGeom prst="rect">
            <a:avLst/>
          </a:prstGeom>
          <a:noFill/>
          <a:ln/>
        </p:spPr>
        <p:txBody>
          <a:bodyPr wrap="square" lIns="0" tIns="0" rIns="0" bIns="0" rtlCol="0" anchor="ctr"/>
          <a:lstStyle/>
          <a:p>
            <a:pPr algn="ctr" indent="0" marL="0">
              <a:buNone/>
            </a:pPr>
            <a:r>
              <a:rPr lang="en-US" sz="3000" b="1" dirty="0">
                <a:solidFill>
                  <a:srgbClr val="7A5200"/>
                </a:solidFill>
                <a:latin typeface="Arial" pitchFamily="34" charset="0"/>
                <a:ea typeface="Arial" pitchFamily="34" charset="-122"/>
                <a:cs typeface="Arial" pitchFamily="34" charset="-120"/>
              </a:rPr>
              <a:t>R2.11</a:t>
            </a:r>
            <a:endParaRPr lang="en-US" sz="3000" dirty="0"/>
          </a:p>
          <a:p>
            <a:pPr algn="ctr" indent="0" marL="0">
              <a:buNone/>
            </a:pPr>
            <a:r>
              <a:rPr lang="en-US" sz="1400" dirty="0">
                <a:solidFill>
                  <a:srgbClr val="7A5200"/>
                </a:solidFill>
                <a:latin typeface="Arial" pitchFamily="34" charset="0"/>
                <a:ea typeface="Arial" pitchFamily="34" charset="-122"/>
                <a:cs typeface="Arial" pitchFamily="34" charset="-120"/>
              </a:rPr>
              <a:t>average gap, below spot at every origin</a:t>
            </a:r>
            <a:endParaRPr lang="en-US" sz="3000" dirty="0"/>
          </a:p>
        </p:txBody>
      </p:sp>
      <p:sp>
        <p:nvSpPr>
          <p:cNvPr id="9" name="Text 6"/>
          <p:cNvSpPr/>
          <p:nvPr/>
        </p:nvSpPr>
        <p:spPr>
          <a:xfrm>
            <a:off x="566928" y="6327648"/>
            <a:ext cx="11064240" cy="274320"/>
          </a:xfrm>
          <a:prstGeom prst="rect">
            <a:avLst/>
          </a:prstGeom>
          <a:noFill/>
          <a:ln/>
        </p:spPr>
        <p:txBody>
          <a:bodyPr wrap="square" lIns="0" tIns="0" rIns="0" bIns="0" rtlCol="0" anchor="ctr"/>
          <a:lstStyle/>
          <a:p>
            <a:pPr indent="0" marL="0">
              <a:buNone/>
            </a:pPr>
            <a:r>
              <a:rPr lang="en-US" sz="1300" dirty="0">
                <a:solidFill>
                  <a:srgbClr val="6B7280"/>
                </a:solidFill>
                <a:latin typeface="Arial" pitchFamily="34" charset="0"/>
                <a:ea typeface="Arial" pitchFamily="34" charset="-122"/>
                <a:cs typeface="Arial" pitchFamily="34" charset="-120"/>
              </a:rPr>
              <a:t>Own calculation. AR(1) refitted at each of the 261 origins; reproducible via src/validate_results.py in the submission.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914400"/>
          </a:xfrm>
          <a:prstGeom prst="rect">
            <a:avLst/>
          </a:prstGeom>
          <a:noFill/>
          <a:ln/>
        </p:spPr>
        <p:txBody>
          <a:bodyPr wrap="square" lIns="0" tIns="0" rIns="0" bIns="0" rtlCol="0" anchor="t"/>
          <a:lstStyle/>
          <a:p>
            <a:pPr indent="0" marL="0">
              <a:buNone/>
            </a:pPr>
            <a:r>
              <a:rPr lang="en-US" sz="2600" b="1" dirty="0">
                <a:solidFill>
                  <a:srgbClr val="0E2A3B"/>
                </a:solidFill>
                <a:latin typeface="Arial" pitchFamily="34" charset="0"/>
                <a:ea typeface="Arial" pitchFamily="34" charset="-122"/>
                <a:cs typeface="Arial" pitchFamily="34" charset="-120"/>
              </a:rPr>
              <a:t>The combination cuts RMSE 0.42% below the benchmark; four of five models beat it</a:t>
            </a:r>
            <a:endParaRPr lang="en-US" sz="2600" dirty="0"/>
          </a:p>
        </p:txBody>
      </p:sp>
      <p:sp>
        <p:nvSpPr>
          <p:cNvPr id="3" name="Shape 1"/>
          <p:cNvSpPr/>
          <p:nvPr/>
        </p:nvSpPr>
        <p:spPr>
          <a:xfrm>
            <a:off x="566928" y="1243584"/>
            <a:ext cx="11064240" cy="18288"/>
          </a:xfrm>
          <a:prstGeom prst="rect">
            <a:avLst/>
          </a:prstGeom>
          <a:solidFill>
            <a:srgbClr val="D6DEE6"/>
          </a:solidFill>
          <a:ln w="12700">
            <a:solidFill>
              <a:srgbClr val="D6DEE6"/>
            </a:solidFill>
            <a:prstDash val="solid"/>
          </a:ln>
        </p:spPr>
      </p:sp>
      <p:pic>
        <p:nvPicPr>
          <p:cNvPr id="4" name="Image 0" descr="C:\Users\aakas\Documents\Projects\Hackathon\figures\presentation\rmse.png">    </p:cNvPr>
          <p:cNvPicPr>
            <a:picLocks noChangeAspect="1"/>
          </p:cNvPicPr>
          <p:nvPr/>
        </p:nvPicPr>
        <p:blipFill>
          <a:blip r:embed="rId1"/>
          <a:stretch>
            <a:fillRect/>
          </a:stretch>
        </p:blipFill>
        <p:spPr>
          <a:xfrm>
            <a:off x="566928" y="1325880"/>
            <a:ext cx="6949440" cy="4343400"/>
          </a:xfrm>
          <a:prstGeom prst="rect">
            <a:avLst/>
          </a:prstGeom>
        </p:spPr>
      </p:pic>
      <p:sp>
        <p:nvSpPr>
          <p:cNvPr id="5" name="Text 2"/>
          <p:cNvSpPr/>
          <p:nvPr/>
        </p:nvSpPr>
        <p:spPr>
          <a:xfrm>
            <a:off x="7635240" y="1371600"/>
            <a:ext cx="4114800" cy="310896"/>
          </a:xfrm>
          <a:prstGeom prst="rect">
            <a:avLst/>
          </a:prstGeom>
          <a:noFill/>
          <a:ln/>
        </p:spPr>
        <p:txBody>
          <a:bodyPr wrap="square" lIns="0" tIns="0" rIns="0" bIns="0" rtlCol="0" anchor="ctr"/>
          <a:lstStyle/>
          <a:p>
            <a:pPr indent="0" marL="0">
              <a:buNone/>
            </a:pPr>
            <a:r>
              <a:rPr lang="en-US" sz="2000" b="1" dirty="0">
                <a:solidFill>
                  <a:srgbClr val="1A7A4A"/>
                </a:solidFill>
                <a:latin typeface="Arial" pitchFamily="34" charset="0"/>
                <a:ea typeface="Arial" pitchFamily="34" charset="-122"/>
                <a:cs typeface="Arial" pitchFamily="34" charset="-120"/>
              </a:rPr>
              <a:t>What to take away</a:t>
            </a:r>
            <a:endParaRPr lang="en-US" sz="2000" dirty="0"/>
          </a:p>
        </p:txBody>
      </p:sp>
      <p:sp>
        <p:nvSpPr>
          <p:cNvPr id="6" name="Text 3"/>
          <p:cNvSpPr/>
          <p:nvPr/>
        </p:nvSpPr>
        <p:spPr>
          <a:xfrm>
            <a:off x="7635240" y="1783080"/>
            <a:ext cx="4114800" cy="3840480"/>
          </a:xfrm>
          <a:prstGeom prst="rect">
            <a:avLst/>
          </a:prstGeom>
          <a:noFill/>
          <a:ln/>
        </p:spPr>
        <p:txBody>
          <a:bodyPr wrap="square" lIns="0" tIns="0" rIns="0" bIns="0" rtlCol="0" anchor="ctr"/>
          <a:lstStyle/>
          <a:p>
            <a:pPr marL="342900" indent="-342900">
              <a:spcAft>
                <a:spcPts val="1600"/>
              </a:spcAft>
              <a:buSzPct val="100000"/>
              <a:buChar char="•"/>
            </a:pPr>
            <a:r>
              <a:rPr lang="en-US" sz="1800" dirty="0">
                <a:solidFill>
                  <a:srgbClr val="1F2937"/>
                </a:solidFill>
                <a:latin typeface="Arial" pitchFamily="34" charset="0"/>
                <a:ea typeface="Arial" pitchFamily="34" charset="-122"/>
                <a:cs typeface="Arial" pitchFamily="34" charset="-120"/>
              </a:rPr>
              <a:t>Combination 0.5600 against the AR(1)'s 0.5624, over 261 forecasts.</a:t>
            </a:r>
            <a:endParaRPr lang="en-US" sz="1800" dirty="0"/>
          </a:p>
          <a:p>
            <a:pPr indent="0" marL="0">
              <a:spcAft>
                <a:spcPts val="1600"/>
              </a:spcAft>
              <a:buNone/>
            </a:pPr>
            <a:r>
              <a:rPr lang="en-US" sz="1800" dirty="0">
                <a:solidFill>
                  <a:srgbClr val="1F2937"/>
                </a:solidFill>
                <a:latin typeface="Arial" pitchFamily="34" charset="0"/>
                <a:ea typeface="Arial" pitchFamily="34" charset="-122"/>
                <a:cs typeface="Arial" pitchFamily="34" charset="-120"/>
              </a:rPr>
              <a:t>Robustness: with targets strictly inside 2025 we lead every model, random walk included.</a:t>
            </a:r>
            <a:endParaRPr lang="en-US" sz="1800" dirty="0"/>
          </a:p>
          <a:p>
            <a:pPr indent="0" marL="0">
              <a:spcAft>
                <a:spcPts val="1600"/>
              </a:spcAft>
              <a:buNone/>
            </a:pPr>
            <a:r>
              <a:rPr lang="en-US" sz="1800" dirty="0">
                <a:solidFill>
                  <a:srgbClr val="1F2937"/>
                </a:solidFill>
                <a:latin typeface="Arial" pitchFamily="34" charset="0"/>
                <a:ea typeface="Arial" pitchFamily="34" charset="-122"/>
                <a:cs typeface="Arial" pitchFamily="34" charset="-120"/>
              </a:rPr>
              <a:t>Gradient boosting, same data and discipline, loses by 2.2%. About 850 noisy observations cannot support a flexible learner.</a:t>
            </a:r>
            <a:endParaRPr lang="en-US" sz="1800" dirty="0"/>
          </a:p>
        </p:txBody>
      </p:sp>
      <p:sp>
        <p:nvSpPr>
          <p:cNvPr id="7" name="Text 4"/>
          <p:cNvSpPr/>
          <p:nvPr/>
        </p:nvSpPr>
        <p:spPr>
          <a:xfrm>
            <a:off x="566928" y="6327648"/>
            <a:ext cx="11064240" cy="274320"/>
          </a:xfrm>
          <a:prstGeom prst="rect">
            <a:avLst/>
          </a:prstGeom>
          <a:noFill/>
          <a:ln/>
        </p:spPr>
        <p:txBody>
          <a:bodyPr wrap="square" lIns="0" tIns="0" rIns="0" bIns="0" rtlCol="0" anchor="ctr"/>
          <a:lstStyle/>
          <a:p>
            <a:pPr indent="0" marL="0">
              <a:buNone/>
            </a:pPr>
            <a:r>
              <a:rPr lang="en-US" sz="1300" dirty="0">
                <a:solidFill>
                  <a:srgbClr val="6B7280"/>
                </a:solidFill>
                <a:latin typeface="Arial" pitchFamily="34" charset="0"/>
                <a:ea typeface="Arial" pitchFamily="34" charset="-122"/>
                <a:cs typeface="Arial" pitchFamily="34" charset="-120"/>
              </a:rPr>
              <a:t>Own calculation from forecast_log.csv, n = 261. Simple-beats-complex is the M4 and M5 competition finding (Makridakis et al. 2020, 2022).</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2A3B"/>
        </a:solidFill>
      </p:bgPr>
    </p:bg>
    <p:spTree>
      <p:nvGrpSpPr>
        <p:cNvPr id="1" name=""/>
        <p:cNvGrpSpPr/>
        <p:nvPr/>
      </p:nvGrpSpPr>
      <p:grpSpPr>
        <a:xfrm>
          <a:off x="0" y="0"/>
          <a:ext cx="0" cy="0"/>
          <a:chOff x="0" y="0"/>
          <a:chExt cx="0" cy="0"/>
        </a:xfrm>
      </p:grpSpPr>
      <p:sp>
        <p:nvSpPr>
          <p:cNvPr id="2" name="Text 0"/>
          <p:cNvSpPr/>
          <p:nvPr/>
        </p:nvSpPr>
        <p:spPr>
          <a:xfrm>
            <a:off x="566928" y="365760"/>
            <a:ext cx="11064240" cy="457200"/>
          </a:xfrm>
          <a:prstGeom prst="rect">
            <a:avLst/>
          </a:prstGeom>
          <a:noFill/>
          <a:ln/>
        </p:spPr>
        <p:txBody>
          <a:bodyPr wrap="square" lIns="0" tIns="0" rIns="0" bIns="0" rtlCol="0" anchor="ctr"/>
          <a:lstStyle/>
          <a:p>
            <a:pPr indent="0" marL="0">
              <a:buNone/>
            </a:pPr>
            <a:r>
              <a:rPr lang="en-US" sz="2000" dirty="0">
                <a:solidFill>
                  <a:srgbClr val="A0BBDD"/>
                </a:solidFill>
                <a:latin typeface="Arial" pitchFamily="34" charset="0"/>
                <a:ea typeface="Arial" pitchFamily="34" charset="-122"/>
                <a:cs typeface="Arial" pitchFamily="34" charset="-120"/>
              </a:rPr>
              <a:t>Conclusions</a:t>
            </a:r>
            <a:endParaRPr lang="en-US" sz="2000" dirty="0"/>
          </a:p>
        </p:txBody>
      </p:sp>
      <p:sp>
        <p:nvSpPr>
          <p:cNvPr id="3" name="Shape 1"/>
          <p:cNvSpPr/>
          <p:nvPr/>
        </p:nvSpPr>
        <p:spPr>
          <a:xfrm>
            <a:off x="566928" y="868680"/>
            <a:ext cx="11064240" cy="45720"/>
          </a:xfrm>
          <a:prstGeom prst="rect">
            <a:avLst/>
          </a:prstGeom>
          <a:solidFill>
            <a:srgbClr val="C9A227"/>
          </a:solidFill>
          <a:ln w="12700">
            <a:solidFill>
              <a:srgbClr val="C9A227"/>
            </a:solidFill>
            <a:prstDash val="solid"/>
          </a:ln>
        </p:spPr>
      </p:sp>
      <p:sp>
        <p:nvSpPr>
          <p:cNvPr id="4" name="Text 2"/>
          <p:cNvSpPr/>
          <p:nvPr/>
        </p:nvSpPr>
        <p:spPr>
          <a:xfrm>
            <a:off x="566928" y="1143000"/>
            <a:ext cx="11064240" cy="4114800"/>
          </a:xfrm>
          <a:prstGeom prst="rect">
            <a:avLst/>
          </a:prstGeom>
          <a:noFill/>
          <a:ln/>
        </p:spPr>
        <p:txBody>
          <a:bodyPr wrap="square" lIns="0" tIns="0" rIns="0" bIns="0" rtlCol="0" anchor="ctr"/>
          <a:lstStyle/>
          <a:p>
            <a:pPr indent="0" marL="0">
              <a:spcAft>
                <a:spcPts val="1700"/>
              </a:spcAft>
              <a:buNone/>
            </a:pPr>
            <a:r>
              <a:rPr lang="en-US" sz="1900" b="1" dirty="0">
                <a:solidFill>
                  <a:srgbClr val="FFFFFF"/>
                </a:solidFill>
                <a:latin typeface="Arial" pitchFamily="34" charset="0"/>
                <a:ea typeface="Arial" pitchFamily="34" charset="-122"/>
                <a:cs typeface="Arial" pitchFamily="34" charset="-120"/>
              </a:rPr>
              <a:t>1.  The benchmark is beatable, and we can say why. </a:t>
            </a:r>
            <a:pPr indent="0" marL="0">
              <a:spcAft>
                <a:spcPts val="1700"/>
              </a:spcAft>
              <a:buNone/>
            </a:pPr>
            <a:r>
              <a:rPr lang="en-US" sz="1900" dirty="0">
                <a:solidFill>
                  <a:srgbClr val="CADCFC"/>
                </a:solidFill>
                <a:latin typeface="Arial" pitchFamily="34" charset="0"/>
                <a:ea typeface="Arial" pitchFamily="34" charset="-122"/>
                <a:cs typeface="Arial" pitchFamily="34" charset="-120"/>
              </a:rPr>
              <a:t>Its implied long-run mean sat below spot at all 261 origins, by R2.11 on average.</a:t>
            </a:r>
            <a:endParaRPr lang="en-US" sz="1900" dirty="0"/>
          </a:p>
          <a:p>
            <a:pPr indent="0" marL="0">
              <a:spcAft>
                <a:spcPts val="1700"/>
              </a:spcAft>
              <a:buNone/>
            </a:pPr>
            <a:r>
              <a:rPr lang="en-US" sz="1900" b="1" dirty="0">
                <a:solidFill>
                  <a:srgbClr val="FFFFFF"/>
                </a:solidFill>
                <a:latin typeface="Arial" pitchFamily="34" charset="0"/>
                <a:ea typeface="Arial" pitchFamily="34" charset="-122"/>
                <a:cs typeface="Arial" pitchFamily="34" charset="-120"/>
              </a:rPr>
              <a:t>2.  The gain is real but small. </a:t>
            </a:r>
            <a:pPr indent="0" marL="0">
              <a:spcAft>
                <a:spcPts val="1700"/>
              </a:spcAft>
              <a:buNone/>
            </a:pPr>
            <a:r>
              <a:rPr lang="en-US" sz="1900" dirty="0">
                <a:solidFill>
                  <a:srgbClr val="CADCFC"/>
                </a:solidFill>
                <a:latin typeface="Arial" pitchFamily="34" charset="0"/>
                <a:ea typeface="Arial" pitchFamily="34" charset="-122"/>
                <a:cs typeface="Arial" pitchFamily="34" charset="-120"/>
              </a:rPr>
              <a:t>0.42% in RMSE, holding in four of five years and on the strict robustness cut. That is the size of the true signal at one month.</a:t>
            </a:r>
            <a:endParaRPr lang="en-US" sz="1900" dirty="0"/>
          </a:p>
          <a:p>
            <a:pPr indent="0" marL="0">
              <a:spcAft>
                <a:spcPts val="1700"/>
              </a:spcAft>
              <a:buNone/>
            </a:pPr>
            <a:r>
              <a:rPr lang="en-US" sz="1900" b="1" dirty="0">
                <a:solidFill>
                  <a:srgbClr val="FFFFFF"/>
                </a:solidFill>
                <a:latin typeface="Arial" pitchFamily="34" charset="0"/>
                <a:ea typeface="Arial" pitchFamily="34" charset="-122"/>
                <a:cs typeface="Arial" pitchFamily="34" charset="-120"/>
              </a:rPr>
              <a:t>3.  Discipline beat complexity. </a:t>
            </a:r>
            <a:pPr indent="0" marL="0">
              <a:spcAft>
                <a:spcPts val="1700"/>
              </a:spcAft>
              <a:buNone/>
            </a:pPr>
            <a:r>
              <a:rPr lang="en-US" sz="1900" dirty="0">
                <a:solidFill>
                  <a:srgbClr val="CADCFC"/>
                </a:solidFill>
                <a:latin typeface="Arial" pitchFamily="34" charset="0"/>
                <a:ea typeface="Arial" pitchFamily="34" charset="-122"/>
                <a:cs typeface="Arial" pitchFamily="34" charset="-120"/>
              </a:rPr>
              <a:t>Gradient boosting, run under identical rules, lost by 2.2%.</a:t>
            </a:r>
            <a:endParaRPr lang="en-US" sz="1900" dirty="0"/>
          </a:p>
          <a:p>
            <a:pPr indent="0" marL="0">
              <a:spcAft>
                <a:spcPts val="1700"/>
              </a:spcAft>
              <a:buNone/>
            </a:pPr>
            <a:r>
              <a:rPr lang="en-US" sz="1900" b="1" dirty="0">
                <a:solidFill>
                  <a:srgbClr val="FFFFFF"/>
                </a:solidFill>
                <a:latin typeface="Arial" pitchFamily="34" charset="0"/>
                <a:ea typeface="Arial" pitchFamily="34" charset="-122"/>
                <a:cs typeface="Arial" pitchFamily="34" charset="-120"/>
              </a:rPr>
              <a:t>4.  What we do not claim. </a:t>
            </a:r>
            <a:pPr indent="0" marL="0">
              <a:spcAft>
                <a:spcPts val="1700"/>
              </a:spcAft>
              <a:buNone/>
            </a:pPr>
            <a:r>
              <a:rPr lang="en-US" sz="1900" dirty="0">
                <a:solidFill>
                  <a:srgbClr val="CADCFC"/>
                </a:solidFill>
                <a:latin typeface="Arial" pitchFamily="34" charset="0"/>
                <a:ea typeface="Arial" pitchFamily="34" charset="-122"/>
                <a:cs typeface="Arial" pitchFamily="34" charset="-120"/>
              </a:rPr>
              <a:t>Not statistically significant (DM p = 0.45). The benchmark wins on MAE and in 2025. Untested as a trading strategy.</a:t>
            </a:r>
            <a:endParaRPr lang="en-US" sz="1900" dirty="0"/>
          </a:p>
        </p:txBody>
      </p:sp>
      <p:sp>
        <p:nvSpPr>
          <p:cNvPr id="5" name="Shape 3"/>
          <p:cNvSpPr/>
          <p:nvPr/>
        </p:nvSpPr>
        <p:spPr>
          <a:xfrm>
            <a:off x="566928" y="5623560"/>
            <a:ext cx="11064240" cy="18288"/>
          </a:xfrm>
          <a:prstGeom prst="rect">
            <a:avLst/>
          </a:prstGeom>
          <a:solidFill>
            <a:srgbClr val="2A4A5E"/>
          </a:solidFill>
          <a:ln w="12700">
            <a:solidFill>
              <a:srgbClr val="2A4A5E"/>
            </a:solidFill>
            <a:prstDash val="solid"/>
          </a:ln>
        </p:spPr>
      </p:sp>
      <p:sp>
        <p:nvSpPr>
          <p:cNvPr id="6" name="Text 4"/>
          <p:cNvSpPr/>
          <p:nvPr/>
        </p:nvSpPr>
        <p:spPr>
          <a:xfrm>
            <a:off x="566928" y="5760720"/>
            <a:ext cx="7863840" cy="365760"/>
          </a:xfrm>
          <a:prstGeom prst="rect">
            <a:avLst/>
          </a:prstGeom>
          <a:noFill/>
          <a:ln/>
        </p:spPr>
        <p:txBody>
          <a:bodyPr wrap="square" lIns="0" tIns="0" rIns="0" bIns="0" rtlCol="0" anchor="ctr"/>
          <a:lstStyle/>
          <a:p>
            <a:pPr indent="0" marL="0">
              <a:buNone/>
            </a:pPr>
            <a:r>
              <a:rPr lang="en-US" sz="1500" dirty="0">
                <a:solidFill>
                  <a:srgbClr val="A0BBDD"/>
                </a:solidFill>
                <a:latin typeface="Arial" pitchFamily="34" charset="0"/>
                <a:ea typeface="Arial" pitchFamily="34" charset="-122"/>
                <a:cs typeface="Arial" pitchFamily="34" charset="-120"/>
              </a:rPr>
              <a:t>Full code, forecast log and report in the submission. Reproduces end to end with one command.</a:t>
            </a:r>
            <a:endParaRPr lang="en-US" sz="1500" dirty="0"/>
          </a:p>
        </p:txBody>
      </p:sp>
      <p:sp>
        <p:nvSpPr>
          <p:cNvPr id="7" name="Text 5"/>
          <p:cNvSpPr/>
          <p:nvPr/>
        </p:nvSpPr>
        <p:spPr>
          <a:xfrm>
            <a:off x="8595360" y="5760720"/>
            <a:ext cx="3017520" cy="365760"/>
          </a:xfrm>
          <a:prstGeom prst="rect">
            <a:avLst/>
          </a:prstGeom>
          <a:noFill/>
          <a:ln/>
        </p:spPr>
        <p:txBody>
          <a:bodyPr wrap="square" lIns="0" tIns="0" rIns="0" bIns="0" rtlCol="0" anchor="ctr"/>
          <a:lstStyle/>
          <a:p>
            <a:pPr algn="r" indent="0" marL="0">
              <a:buNone/>
            </a:pPr>
            <a:r>
              <a:rPr lang="en-US" sz="1500" b="1" dirty="0">
                <a:solidFill>
                  <a:srgbClr val="C9A227"/>
                </a:solidFill>
                <a:latin typeface="Arial" pitchFamily="34" charset="0"/>
                <a:ea typeface="Arial" pitchFamily="34" charset="-122"/>
                <a:cs typeface="Arial" pitchFamily="34" charset="-120"/>
              </a:rPr>
              <a:t>Questions and feedback welcome.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603504"/>
          </a:xfrm>
          <a:prstGeom prst="rect">
            <a:avLst/>
          </a:prstGeom>
          <a:noFill/>
          <a:ln/>
        </p:spPr>
        <p:txBody>
          <a:bodyPr wrap="square" lIns="0" tIns="0" rIns="0" bIns="0" rtlCol="0" anchor="t"/>
          <a:lstStyle/>
          <a:p>
            <a:pPr indent="0" marL="0">
              <a:buNone/>
            </a:pPr>
            <a:r>
              <a:rPr lang="en-US" sz="2600" b="1" dirty="0">
                <a:solidFill>
                  <a:srgbClr val="0E2A3B"/>
                </a:solidFill>
                <a:latin typeface="Arial" pitchFamily="34" charset="0"/>
                <a:ea typeface="Arial" pitchFamily="34" charset="-122"/>
                <a:cs typeface="Arial" pitchFamily="34" charset="-120"/>
              </a:rPr>
              <a:t>References</a:t>
            </a:r>
            <a:endParaRPr lang="en-US" sz="2600" dirty="0"/>
          </a:p>
        </p:txBody>
      </p:sp>
      <p:sp>
        <p:nvSpPr>
          <p:cNvPr id="3" name="Shape 1"/>
          <p:cNvSpPr/>
          <p:nvPr/>
        </p:nvSpPr>
        <p:spPr>
          <a:xfrm>
            <a:off x="566928" y="969264"/>
            <a:ext cx="11064240" cy="18288"/>
          </a:xfrm>
          <a:prstGeom prst="rect">
            <a:avLst/>
          </a:prstGeom>
          <a:solidFill>
            <a:srgbClr val="D6DEE6"/>
          </a:solidFill>
          <a:ln w="12700">
            <a:solidFill>
              <a:srgbClr val="D6DEE6"/>
            </a:solidFill>
            <a:prstDash val="solid"/>
          </a:ln>
        </p:spPr>
      </p:sp>
      <p:sp>
        <p:nvSpPr>
          <p:cNvPr id="4" name="Text 2"/>
          <p:cNvSpPr/>
          <p:nvPr/>
        </p:nvSpPr>
        <p:spPr>
          <a:xfrm>
            <a:off x="566928" y="1188720"/>
            <a:ext cx="11064240" cy="4754880"/>
          </a:xfrm>
          <a:prstGeom prst="rect">
            <a:avLst/>
          </a:prstGeom>
          <a:noFill/>
          <a:ln/>
        </p:spPr>
        <p:txBody>
          <a:bodyPr wrap="square" lIns="0" tIns="0" rIns="0" bIns="0" rtlCol="0" anchor="ctr"/>
          <a:lstStyle/>
          <a:p>
            <a:pPr indent="0" marL="0">
              <a:spcAft>
                <a:spcPts val="900"/>
              </a:spcAft>
              <a:buNone/>
            </a:pPr>
            <a:r>
              <a:rPr lang="en-US" sz="1400" dirty="0">
                <a:solidFill>
                  <a:srgbClr val="1F2937"/>
                </a:solidFill>
                <a:latin typeface="Arial" pitchFamily="34" charset="0"/>
                <a:ea typeface="Arial" pitchFamily="34" charset="-122"/>
                <a:cs typeface="Arial" pitchFamily="34" charset="-120"/>
              </a:rPr>
              <a:t>Amat, C., Michalski, T. and Stoltz, G. (2018). Fundamentals and exchange rate forecastability with simple machine learning methods. Journal of International Money and Finance, 88, 1-24.</a:t>
            </a:r>
            <a:endParaRPr lang="en-US" sz="1400" dirty="0"/>
          </a:p>
          <a:p>
            <a:pPr indent="0" marL="0">
              <a:spcAft>
                <a:spcPts val="900"/>
              </a:spcAft>
              <a:buNone/>
            </a:pPr>
            <a:r>
              <a:rPr lang="en-US" sz="1400" dirty="0">
                <a:solidFill>
                  <a:srgbClr val="1F2937"/>
                </a:solidFill>
                <a:latin typeface="Arial" pitchFamily="34" charset="0"/>
                <a:ea typeface="Arial" pitchFamily="34" charset="-122"/>
                <a:cs typeface="Arial" pitchFamily="34" charset="-120"/>
              </a:rPr>
              <a:t>Codera Analytics (2024-25). What drives the rand?; USDZAR Forecasts. codera.co.za.</a:t>
            </a:r>
            <a:endParaRPr lang="en-US" sz="1400" dirty="0"/>
          </a:p>
          <a:p>
            <a:pPr indent="0" marL="0">
              <a:spcAft>
                <a:spcPts val="900"/>
              </a:spcAft>
              <a:buNone/>
            </a:pPr>
            <a:r>
              <a:rPr lang="en-US" sz="1400" dirty="0">
                <a:solidFill>
                  <a:srgbClr val="1F2937"/>
                </a:solidFill>
                <a:latin typeface="Arial" pitchFamily="34" charset="0"/>
                <a:ea typeface="Arial" pitchFamily="34" charset="-122"/>
                <a:cs typeface="Arial" pitchFamily="34" charset="-120"/>
              </a:rPr>
              <a:t>Darvas, Z. (2020). Forecasting exchange rates of major currencies with long maturity interest rates. Bruegel Working Paper 2020/02.</a:t>
            </a:r>
            <a:endParaRPr lang="en-US" sz="1400" dirty="0"/>
          </a:p>
          <a:p>
            <a:pPr indent="0" marL="0">
              <a:spcAft>
                <a:spcPts val="900"/>
              </a:spcAft>
              <a:buNone/>
            </a:pPr>
            <a:r>
              <a:rPr lang="en-US" sz="1400" dirty="0">
                <a:solidFill>
                  <a:srgbClr val="1F2937"/>
                </a:solidFill>
                <a:latin typeface="Arial" pitchFamily="34" charset="0"/>
                <a:ea typeface="Arial" pitchFamily="34" charset="-122"/>
                <a:cs typeface="Arial" pitchFamily="34" charset="-120"/>
              </a:rPr>
              <a:t>Diebold, F.X. and Mariano, R.S. (1995). Comparing predictive accuracy. Journal of Business and Economic Statistics, 13(3), 253-263.</a:t>
            </a:r>
            <a:endParaRPr lang="en-US" sz="1400" dirty="0"/>
          </a:p>
          <a:p>
            <a:pPr indent="0" marL="0">
              <a:spcAft>
                <a:spcPts val="900"/>
              </a:spcAft>
              <a:buNone/>
            </a:pPr>
            <a:r>
              <a:rPr lang="en-US" sz="1400" dirty="0">
                <a:solidFill>
                  <a:srgbClr val="1F2937"/>
                </a:solidFill>
                <a:latin typeface="Arial" pitchFamily="34" charset="0"/>
                <a:ea typeface="Arial" pitchFamily="34" charset="-122"/>
                <a:cs typeface="Arial" pitchFamily="34" charset="-120"/>
              </a:rPr>
              <a:t>Makridakis, S., Spiliotis, E. and Assimakopoulos, V. (2020, 2022). The M4 and M5 accuracy competitions: results, findings and conclusions. International Journal of Forecasting.</a:t>
            </a:r>
            <a:endParaRPr lang="en-US" sz="1400" dirty="0"/>
          </a:p>
          <a:p>
            <a:pPr indent="0" marL="0">
              <a:spcAft>
                <a:spcPts val="900"/>
              </a:spcAft>
              <a:buNone/>
            </a:pPr>
            <a:r>
              <a:rPr lang="en-US" sz="1400" dirty="0">
                <a:solidFill>
                  <a:srgbClr val="1F2937"/>
                </a:solidFill>
                <a:latin typeface="Arial" pitchFamily="34" charset="0"/>
                <a:ea typeface="Arial" pitchFamily="34" charset="-122"/>
                <a:cs typeface="Arial" pitchFamily="34" charset="-120"/>
              </a:rPr>
              <a:t>Meese, R. and Rogoff, K. (1983). Empirical exchange rate models of the seventies: do they fit out of sample? Journal of International Economics, 14, 3-24.</a:t>
            </a:r>
            <a:endParaRPr lang="en-US" sz="1400" dirty="0"/>
          </a:p>
          <a:p>
            <a:pPr indent="0" marL="0">
              <a:spcAft>
                <a:spcPts val="900"/>
              </a:spcAft>
              <a:buNone/>
            </a:pPr>
            <a:r>
              <a:rPr lang="en-US" sz="1400" dirty="0">
                <a:solidFill>
                  <a:srgbClr val="1F2937"/>
                </a:solidFill>
                <a:latin typeface="Arial" pitchFamily="34" charset="0"/>
                <a:ea typeface="Arial" pitchFamily="34" charset="-122"/>
                <a:cs typeface="Arial" pitchFamily="34" charset="-120"/>
              </a:rPr>
              <a:t>Rossi, B. (2013). Exchange rate predictability. Journal of Economic Literature, 51(4), 1063-1119.</a:t>
            </a:r>
            <a:endParaRPr lang="en-US" sz="1400" dirty="0"/>
          </a:p>
          <a:p>
            <a:pPr indent="0" marL="0">
              <a:spcAft>
                <a:spcPts val="900"/>
              </a:spcAft>
              <a:buNone/>
            </a:pPr>
            <a:r>
              <a:rPr lang="en-US" sz="1400" dirty="0">
                <a:solidFill>
                  <a:srgbClr val="1F2937"/>
                </a:solidFill>
                <a:latin typeface="Arial" pitchFamily="34" charset="0"/>
                <a:ea typeface="Arial" pitchFamily="34" charset="-122"/>
                <a:cs typeface="Arial" pitchFamily="34" charset="-120"/>
              </a:rPr>
              <a:t>South African Reserve Bank (2022). Working Paper WP/22/14: can the distribution of rand returns improve exchange rate forecasts?</a:t>
            </a:r>
            <a:endParaRPr lang="en-US" sz="1400" dirty="0"/>
          </a:p>
        </p:txBody>
      </p:sp>
      <p:sp>
        <p:nvSpPr>
          <p:cNvPr id="5" name="Text 3"/>
          <p:cNvSpPr/>
          <p:nvPr/>
        </p:nvSpPr>
        <p:spPr>
          <a:xfrm>
            <a:off x="566928" y="6035040"/>
            <a:ext cx="11064240" cy="457200"/>
          </a:xfrm>
          <a:prstGeom prst="rect">
            <a:avLst/>
          </a:prstGeom>
          <a:noFill/>
          <a:ln/>
        </p:spPr>
        <p:txBody>
          <a:bodyPr wrap="square" lIns="0" tIns="0" rIns="0" bIns="0" rtlCol="0" anchor="ctr"/>
          <a:lstStyle/>
          <a:p>
            <a:pPr indent="0" marL="0">
              <a:buNone/>
            </a:pPr>
            <a:r>
              <a:rPr lang="en-US" sz="1300" dirty="0">
                <a:solidFill>
                  <a:srgbClr val="6B7280"/>
                </a:solidFill>
                <a:latin typeface="Arial" pitchFamily="34" charset="0"/>
                <a:ea typeface="Arial" pitchFamily="34" charset="-122"/>
                <a:cs typeface="Arial" pitchFamily="34" charset="-120"/>
              </a:rPr>
              <a:t>Data: SARB series EXCX135 via EconData (MARKET_RATES 1.0.0, EXCX135.B.A). SARB. MARKET_RATES. Pretoria: SARB [producer]. Johannesburg: EconData [distributor], 2026.</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603504"/>
          </a:xfrm>
          <a:prstGeom prst="rect">
            <a:avLst/>
          </a:prstGeom>
          <a:noFill/>
          <a:ln/>
        </p:spPr>
        <p:txBody>
          <a:bodyPr wrap="square" lIns="0" tIns="0" rIns="0" bIns="0" rtlCol="0" anchor="t"/>
          <a:lstStyle/>
          <a:p>
            <a:pPr indent="0" marL="0">
              <a:buNone/>
            </a:pPr>
            <a:r>
              <a:rPr lang="en-US" sz="2600" b="1" dirty="0">
                <a:solidFill>
                  <a:srgbClr val="0E2A3B"/>
                </a:solidFill>
                <a:latin typeface="Arial" pitchFamily="34" charset="0"/>
                <a:ea typeface="Arial" pitchFamily="34" charset="-122"/>
                <a:cs typeface="Arial" pitchFamily="34" charset="-120"/>
              </a:rPr>
              <a:t>Full results for every model on every metric</a:t>
            </a:r>
            <a:endParaRPr lang="en-US" sz="2600" dirty="0"/>
          </a:p>
        </p:txBody>
      </p:sp>
      <p:sp>
        <p:nvSpPr>
          <p:cNvPr id="3" name="Shape 1"/>
          <p:cNvSpPr/>
          <p:nvPr/>
        </p:nvSpPr>
        <p:spPr>
          <a:xfrm>
            <a:off x="566928" y="969264"/>
            <a:ext cx="11064240" cy="18288"/>
          </a:xfrm>
          <a:prstGeom prst="rect">
            <a:avLst/>
          </a:prstGeom>
          <a:solidFill>
            <a:srgbClr val="D6DEE6"/>
          </a:solidFill>
          <a:ln w="12700">
            <a:solidFill>
              <a:srgbClr val="D6DEE6"/>
            </a:solidFill>
            <a:prstDash val="solid"/>
          </a:ln>
        </p:spPr>
      </p:sp>
      <p:sp>
        <p:nvSpPr>
          <p:cNvPr id="4" name="Text 2"/>
          <p:cNvSpPr/>
          <p:nvPr/>
        </p:nvSpPr>
        <p:spPr>
          <a:xfrm>
            <a:off x="566928" y="54864"/>
            <a:ext cx="11064240" cy="237744"/>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Appendix A</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234440"/>
          <a:ext cx="11064240" cy="914400"/>
        </p:xfrm>
        <a:graphic>
          <a:graphicData uri="http://schemas.openxmlformats.org/drawingml/2006/table">
            <a:tbl>
              <a:tblPr/>
              <a:tblGrid>
                <a:gridCol w="2651760"/>
                <a:gridCol w="1371600"/>
                <a:gridCol w="1371600"/>
                <a:gridCol w="1097280"/>
                <a:gridCol w="1371600"/>
                <a:gridCol w="1097280"/>
                <a:gridCol w="2103120"/>
              </a:tblGrid>
              <a:tr h="457200">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Model</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0E2A3B"/>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RMSE</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0E2A3B"/>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MAE</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0E2A3B"/>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Dir.</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0E2A3B"/>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vs AR(1)</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0E2A3B"/>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DM p</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0E2A3B"/>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Targets &lt;=2025</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0E2A3B"/>
                    </a:solidFill>
                  </a:tcPr>
                </a:tc>
              </a:tr>
              <a:tr h="457200">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AR(1) log (baseline)</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0.5624</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0.4478</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53.6%</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0.5647</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r>
              <a:tr h="457200">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AR(1) level</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0.5629</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0.4492</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47.5%</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-0.09%</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0.5652</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r>
              <a:tr h="457200">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Random walk</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0.5600</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0.4480</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n/a</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+0.43%</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0.218</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0.5622</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r>
              <a:tr h="457200">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Carry</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0.5606</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0.4540</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46.4%</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+0.32%</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0.760</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0.5623</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r>
              <a:tr h="457200">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Ridge</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0.5602</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0.4479</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52.5%</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+0.38%</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0.264</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0.5623</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r>
              <a:tr h="457200">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Gradient boosting</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0.5745</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0.4723</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44.4%</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-2.16%</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0.362</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0.5755</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r>
              <a:tr h="457200">
                <a:tc>
                  <a:txBody>
                    <a:bodyPr/>
                    <a:lstStyle/>
                    <a:p>
                      <a:pPr algn="ctr" indent="0" marL="0">
                        <a:buNone/>
                      </a:pPr>
                      <a:r>
                        <a:rPr lang="en-US" sz="1300" b="1" dirty="0">
                          <a:solidFill>
                            <a:srgbClr val="1F2937"/>
                          </a:solidFill>
                          <a:latin typeface="Arial" pitchFamily="34" charset="0"/>
                          <a:ea typeface="Arial" pitchFamily="34" charset="-122"/>
                          <a:cs typeface="Arial" pitchFamily="34" charset="-120"/>
                        </a:rPr>
                        <a:t>Combination (ours)</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0.5599</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0.4495</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46.4%</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+0.44%</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0.449</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algn="ctr" indent="0" marL="0">
                        <a:buNone/>
                      </a:pPr>
                      <a:r>
                        <a:rPr lang="en-US" sz="1300" dirty="0">
                          <a:solidFill>
                            <a:srgbClr val="1F2937"/>
                          </a:solidFill>
                          <a:latin typeface="Arial" pitchFamily="34" charset="0"/>
                          <a:ea typeface="Arial" pitchFamily="34" charset="-122"/>
                          <a:cs typeface="Arial" pitchFamily="34" charset="-120"/>
                        </a:rPr>
                        <a:t>0.5619</a:t>
                      </a:r>
                      <a:endParaRPr lang="en-US" sz="13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r>
            </a:tbl>
          </a:graphicData>
        </a:graphic>
      </p:graphicFrame>
      <p:sp>
        <p:nvSpPr>
          <p:cNvPr id="6" name="Text 3"/>
          <p:cNvSpPr/>
          <p:nvPr/>
        </p:nvSpPr>
        <p:spPr>
          <a:xfrm>
            <a:off x="566928" y="6327648"/>
            <a:ext cx="11064240" cy="274320"/>
          </a:xfrm>
          <a:prstGeom prst="rect">
            <a:avLst/>
          </a:prstGeom>
          <a:noFill/>
          <a:ln/>
        </p:spPr>
        <p:txBody>
          <a:bodyPr wrap="square" lIns="0" tIns="0" rIns="0" bIns="0" rtlCol="0" anchor="ctr"/>
          <a:lstStyle/>
          <a:p>
            <a:pPr indent="0" marL="0">
              <a:buNone/>
            </a:pPr>
            <a:r>
              <a:rPr lang="en-US" sz="1300" dirty="0">
                <a:solidFill>
                  <a:srgbClr val="6B7280"/>
                </a:solidFill>
                <a:latin typeface="Arial" pitchFamily="34" charset="0"/>
                <a:ea typeface="Arial" pitchFamily="34" charset="-122"/>
                <a:cs typeface="Arial" pitchFamily="34" charset="-120"/>
              </a:rPr>
              <a:t>Own calculation from forecast_log.csv, n = 261. DM = Diebold-Mariano against the AR(1), Newey-West variance at lag 3.</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914400"/>
          </a:xfrm>
          <a:prstGeom prst="rect">
            <a:avLst/>
          </a:prstGeom>
          <a:noFill/>
          <a:ln/>
        </p:spPr>
        <p:txBody>
          <a:bodyPr wrap="square" lIns="0" tIns="0" rIns="0" bIns="0" rtlCol="0" anchor="t"/>
          <a:lstStyle/>
          <a:p>
            <a:pPr indent="0" marL="0">
              <a:buNone/>
            </a:pPr>
            <a:r>
              <a:rPr lang="en-US" sz="2600" b="1" dirty="0">
                <a:solidFill>
                  <a:srgbClr val="0E2A3B"/>
                </a:solidFill>
                <a:latin typeface="Arial" pitchFamily="34" charset="0"/>
                <a:ea typeface="Arial" pitchFamily="34" charset="-122"/>
                <a:cs typeface="Arial" pitchFamily="34" charset="-120"/>
              </a:rPr>
              <a:t>We win four years of five; 2025 goes the other way and we say so</a:t>
            </a:r>
            <a:endParaRPr lang="en-US" sz="2600" dirty="0"/>
          </a:p>
        </p:txBody>
      </p:sp>
      <p:sp>
        <p:nvSpPr>
          <p:cNvPr id="3" name="Shape 1"/>
          <p:cNvSpPr/>
          <p:nvPr/>
        </p:nvSpPr>
        <p:spPr>
          <a:xfrm>
            <a:off x="566928" y="1243584"/>
            <a:ext cx="11064240" cy="18288"/>
          </a:xfrm>
          <a:prstGeom prst="rect">
            <a:avLst/>
          </a:prstGeom>
          <a:solidFill>
            <a:srgbClr val="D6DEE6"/>
          </a:solidFill>
          <a:ln w="12700">
            <a:solidFill>
              <a:srgbClr val="D6DEE6"/>
            </a:solidFill>
            <a:prstDash val="solid"/>
          </a:ln>
        </p:spPr>
      </p:sp>
      <p:sp>
        <p:nvSpPr>
          <p:cNvPr id="4" name="Text 2"/>
          <p:cNvSpPr/>
          <p:nvPr/>
        </p:nvSpPr>
        <p:spPr>
          <a:xfrm>
            <a:off x="566928" y="54864"/>
            <a:ext cx="11064240" cy="237744"/>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Appendix B</a:t>
            </a:r>
            <a:endParaRPr lang="en-US" sz="1300" dirty="0"/>
          </a:p>
        </p:txBody>
      </p:sp>
      <p:pic>
        <p:nvPicPr>
          <p:cNvPr id="5" name="Image 0" descr="C:\Users\aakas\Documents\Projects\Hackathon\figures\presentation\yearly.png">    </p:cNvPr>
          <p:cNvPicPr>
            <a:picLocks noChangeAspect="1"/>
          </p:cNvPicPr>
          <p:nvPr/>
        </p:nvPicPr>
        <p:blipFill>
          <a:blip r:embed="rId1"/>
          <a:stretch>
            <a:fillRect/>
          </a:stretch>
        </p:blipFill>
        <p:spPr>
          <a:xfrm>
            <a:off x="2194560" y="1280160"/>
            <a:ext cx="7772400" cy="4297680"/>
          </a:xfrm>
          <a:prstGeom prst="rect">
            <a:avLst/>
          </a:prstGeom>
        </p:spPr>
      </p:pic>
      <p:sp>
        <p:nvSpPr>
          <p:cNvPr id="6" name="Text 3"/>
          <p:cNvSpPr/>
          <p:nvPr/>
        </p:nvSpPr>
        <p:spPr>
          <a:xfrm>
            <a:off x="566928" y="6327648"/>
            <a:ext cx="11064240" cy="274320"/>
          </a:xfrm>
          <a:prstGeom prst="rect">
            <a:avLst/>
          </a:prstGeom>
          <a:noFill/>
          <a:ln/>
        </p:spPr>
        <p:txBody>
          <a:bodyPr wrap="square" lIns="0" tIns="0" rIns="0" bIns="0" rtlCol="0" anchor="ctr"/>
          <a:lstStyle/>
          <a:p>
            <a:pPr indent="0" marL="0">
              <a:buNone/>
            </a:pPr>
            <a:r>
              <a:rPr lang="en-US" sz="1300" dirty="0">
                <a:solidFill>
                  <a:srgbClr val="6B7280"/>
                </a:solidFill>
                <a:latin typeface="Arial" pitchFamily="34" charset="0"/>
                <a:ea typeface="Arial" pitchFamily="34" charset="-122"/>
                <a:cs typeface="Arial" pitchFamily="34" charset="-120"/>
              </a:rPr>
              <a:t>Own calculation from forecast_log.csv.</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914400"/>
          </a:xfrm>
          <a:prstGeom prst="rect">
            <a:avLst/>
          </a:prstGeom>
          <a:noFill/>
          <a:ln/>
        </p:spPr>
        <p:txBody>
          <a:bodyPr wrap="square" lIns="0" tIns="0" rIns="0" bIns="0" rtlCol="0" anchor="t"/>
          <a:lstStyle/>
          <a:p>
            <a:pPr indent="0" marL="0">
              <a:buNone/>
            </a:pPr>
            <a:r>
              <a:rPr lang="en-US" sz="2600" b="1" dirty="0">
                <a:solidFill>
                  <a:srgbClr val="0E2A3B"/>
                </a:solidFill>
                <a:latin typeface="Arial" pitchFamily="34" charset="0"/>
                <a:ea typeface="Arial" pitchFamily="34" charset="-122"/>
                <a:cs typeface="Arial" pitchFamily="34" charset="-120"/>
              </a:rPr>
              <a:t>The target series is the one the rules specify, verified against an independent source</a:t>
            </a:r>
            <a:endParaRPr lang="en-US" sz="2600" dirty="0"/>
          </a:p>
        </p:txBody>
      </p:sp>
      <p:sp>
        <p:nvSpPr>
          <p:cNvPr id="3" name="Shape 1"/>
          <p:cNvSpPr/>
          <p:nvPr/>
        </p:nvSpPr>
        <p:spPr>
          <a:xfrm>
            <a:off x="566928" y="1243584"/>
            <a:ext cx="11064240" cy="18288"/>
          </a:xfrm>
          <a:prstGeom prst="rect">
            <a:avLst/>
          </a:prstGeom>
          <a:solidFill>
            <a:srgbClr val="D6DEE6"/>
          </a:solidFill>
          <a:ln w="12700">
            <a:solidFill>
              <a:srgbClr val="D6DEE6"/>
            </a:solidFill>
            <a:prstDash val="solid"/>
          </a:ln>
        </p:spPr>
      </p:sp>
      <p:sp>
        <p:nvSpPr>
          <p:cNvPr id="4" name="Text 2"/>
          <p:cNvSpPr/>
          <p:nvPr/>
        </p:nvSpPr>
        <p:spPr>
          <a:xfrm>
            <a:off x="566928" y="54864"/>
            <a:ext cx="11064240" cy="237744"/>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Appendix C</a:t>
            </a:r>
            <a:endParaRPr lang="en-US" sz="1300" dirty="0"/>
          </a:p>
        </p:txBody>
      </p:sp>
      <p:sp>
        <p:nvSpPr>
          <p:cNvPr id="5" name="Text 3"/>
          <p:cNvSpPr/>
          <p:nvPr/>
        </p:nvSpPr>
        <p:spPr>
          <a:xfrm>
            <a:off x="566928" y="1371600"/>
            <a:ext cx="6035040" cy="4389120"/>
          </a:xfrm>
          <a:prstGeom prst="rect">
            <a:avLst/>
          </a:prstGeom>
          <a:noFill/>
          <a:ln/>
        </p:spPr>
        <p:txBody>
          <a:bodyPr wrap="square" lIns="0" tIns="0" rIns="0" bIns="0" rtlCol="0" anchor="ctr"/>
          <a:lstStyle/>
          <a:p>
            <a:pPr marL="342900" indent="-342900">
              <a:spcAft>
                <a:spcPts val="1500"/>
              </a:spcAft>
              <a:buSzPct val="100000"/>
              <a:buChar char="•"/>
            </a:pPr>
            <a:r>
              <a:rPr lang="en-US" sz="1800" b="1" dirty="0">
                <a:solidFill>
                  <a:srgbClr val="1F2937"/>
                </a:solidFill>
                <a:latin typeface="Arial" pitchFamily="34" charset="0"/>
                <a:ea typeface="Arial" pitchFamily="34" charset="-122"/>
                <a:cs typeface="Arial" pitchFamily="34" charset="-120"/>
              </a:rPr>
              <a:t>Source. </a:t>
            </a:r>
            <a:pPr indent="0" marL="0">
              <a:spcAft>
                <a:spcPts val="1500"/>
              </a:spcAft>
              <a:buNone/>
            </a:pPr>
            <a:r>
              <a:rPr lang="en-US" sz="1800" dirty="0">
                <a:solidFill>
                  <a:srgbClr val="1F2937"/>
                </a:solidFill>
                <a:latin typeface="Arial" pitchFamily="34" charset="0"/>
                <a:ea typeface="Arial" pitchFamily="34" charset="-122"/>
                <a:cs typeface="Arial" pitchFamily="34" charset="-120"/>
              </a:rPr>
              <a:t>Official EconData export, MARKET_RATES 1.0.0, series EXCX135.B.A, 14 173 daily observations from 2 January 1970.</a:t>
            </a:r>
            <a:endParaRPr lang="en-US" sz="1800" dirty="0"/>
          </a:p>
          <a:p>
            <a:pPr indent="0" marL="0">
              <a:spcAft>
                <a:spcPts val="1500"/>
              </a:spcAft>
              <a:buNone/>
            </a:pPr>
            <a:r>
              <a:rPr lang="en-US" sz="1800" b="1" dirty="0">
                <a:solidFill>
                  <a:srgbClr val="1F2937"/>
                </a:solidFill>
                <a:latin typeface="Arial" pitchFamily="34" charset="0"/>
                <a:ea typeface="Arial" pitchFamily="34" charset="-122"/>
                <a:cs typeface="Arial" pitchFamily="34" charset="-120"/>
              </a:rPr>
              <a:t>Verification. </a:t>
            </a:r>
            <a:pPr indent="0" marL="0">
              <a:spcAft>
                <a:spcPts val="1500"/>
              </a:spcAft>
              <a:buNone/>
            </a:pPr>
            <a:r>
              <a:rPr lang="en-US" sz="1800" dirty="0">
                <a:solidFill>
                  <a:srgbClr val="1F2937"/>
                </a:solidFill>
                <a:latin typeface="Arial" pitchFamily="34" charset="0"/>
                <a:ea typeface="Arial" pitchFamily="34" charset="-122"/>
                <a:cs typeface="Arial" pitchFamily="34" charset="-120"/>
              </a:rPr>
              <a:t>Checked value by value against the SARB Web API (EXCX135D): 9 141 overlapping observations, maximum difference 0.000000, zero mismatches.</a:t>
            </a:r>
            <a:endParaRPr lang="en-US" sz="1800" dirty="0"/>
          </a:p>
          <a:p>
            <a:pPr indent="0" marL="0">
              <a:spcAft>
                <a:spcPts val="1500"/>
              </a:spcAft>
              <a:buNone/>
            </a:pPr>
            <a:r>
              <a:rPr lang="en-US" sz="1800" b="1" dirty="0">
                <a:solidFill>
                  <a:srgbClr val="1F2937"/>
                </a:solidFill>
                <a:latin typeface="Arial" pitchFamily="34" charset="0"/>
                <a:ea typeface="Arial" pitchFamily="34" charset="-122"/>
                <a:cs typeface="Arial" pitchFamily="34" charset="-120"/>
              </a:rPr>
              <a:t>Consequence. </a:t>
            </a:r>
            <a:pPr indent="0" marL="0">
              <a:spcAft>
                <a:spcPts val="1500"/>
              </a:spcAft>
              <a:buNone/>
            </a:pPr>
            <a:r>
              <a:rPr lang="en-US" sz="1800" dirty="0">
                <a:solidFill>
                  <a:srgbClr val="1F2937"/>
                </a:solidFill>
                <a:latin typeface="Arial" pitchFamily="34" charset="0"/>
                <a:ea typeface="Arial" pitchFamily="34" charset="-122"/>
                <a:cs typeface="Arial" pitchFamily="34" charset="-120"/>
              </a:rPr>
              <a:t>Backtests run off either source give RMSEs identical to twelve decimal places.</a:t>
            </a:r>
            <a:endParaRPr lang="en-US" sz="1800" dirty="0"/>
          </a:p>
          <a:p>
            <a:pPr indent="0" marL="0">
              <a:spcAft>
                <a:spcPts val="1500"/>
              </a:spcAft>
              <a:buNone/>
            </a:pPr>
            <a:r>
              <a:rPr lang="en-US" sz="1800" b="1" dirty="0">
                <a:solidFill>
                  <a:srgbClr val="1F2937"/>
                </a:solidFill>
                <a:latin typeface="Arial" pitchFamily="34" charset="0"/>
                <a:ea typeface="Arial" pitchFamily="34" charset="-122"/>
                <a:cs typeface="Arial" pitchFamily="34" charset="-120"/>
              </a:rPr>
              <a:t>Predictors. </a:t>
            </a:r>
            <a:pPr indent="0" marL="0">
              <a:spcAft>
                <a:spcPts val="1500"/>
              </a:spcAft>
              <a:buNone/>
            </a:pPr>
            <a:r>
              <a:rPr lang="en-US" sz="1800" dirty="0">
                <a:solidFill>
                  <a:srgbClr val="1F2937"/>
                </a:solidFill>
                <a:latin typeface="Arial" pitchFamily="34" charset="0"/>
                <a:ea typeface="Arial" pitchFamily="34" charset="-122"/>
                <a:cs typeface="Arial" pitchFamily="34" charset="-120"/>
              </a:rPr>
              <a:t>All daily market prices. Never revised, no publication lag, so look-ahead bias is impossible by construction rather than merely avoided.</a:t>
            </a:r>
            <a:endParaRPr lang="en-US" sz="1800" dirty="0"/>
          </a:p>
        </p:txBody>
      </p:sp>
      <p:pic>
        <p:nvPicPr>
          <p:cNvPr id="6" name="Image 0" descr="C:\Users\aakas\Documents\Projects\Hackathon\figures\input_series.png">    </p:cNvPr>
          <p:cNvPicPr>
            <a:picLocks noChangeAspect="1"/>
          </p:cNvPicPr>
          <p:nvPr/>
        </p:nvPicPr>
        <p:blipFill>
          <a:blip r:embed="rId1"/>
          <a:stretch>
            <a:fillRect/>
          </a:stretch>
        </p:blipFill>
        <p:spPr>
          <a:xfrm>
            <a:off x="6858000" y="1280160"/>
            <a:ext cx="4846320" cy="4709160"/>
          </a:xfrm>
          <a:prstGeom prst="rect">
            <a:avLst/>
          </a:prstGeom>
        </p:spPr>
      </p:pic>
      <p:sp>
        <p:nvSpPr>
          <p:cNvPr id="7" name="Text 4"/>
          <p:cNvSpPr/>
          <p:nvPr/>
        </p:nvSpPr>
        <p:spPr>
          <a:xfrm>
            <a:off x="566928" y="6327648"/>
            <a:ext cx="11064240" cy="274320"/>
          </a:xfrm>
          <a:prstGeom prst="rect">
            <a:avLst/>
          </a:prstGeom>
          <a:noFill/>
          <a:ln/>
        </p:spPr>
        <p:txBody>
          <a:bodyPr wrap="square" lIns="0" tIns="0" rIns="0" bIns="0" rtlCol="0" anchor="ctr"/>
          <a:lstStyle/>
          <a:p>
            <a:pPr indent="0" marL="0">
              <a:buNone/>
            </a:pPr>
            <a:r>
              <a:rPr lang="en-US" sz="1300" dirty="0">
                <a:solidFill>
                  <a:srgbClr val="6B7280"/>
                </a:solidFill>
                <a:latin typeface="Arial" pitchFamily="34" charset="0"/>
                <a:ea typeface="Arial" pitchFamily="34" charset="-122"/>
                <a:cs typeface="Arial" pitchFamily="34" charset="-120"/>
              </a:rPr>
              <a:t>SARB. MARKET_RATES 1.0.0. Pretoria: SARB [producer]. Johannesburg: EconData [distributor], 2026. Verification script: src/verify_provenance.py.</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914400"/>
          </a:xfrm>
          <a:prstGeom prst="rect">
            <a:avLst/>
          </a:prstGeom>
          <a:noFill/>
          <a:ln/>
        </p:spPr>
        <p:txBody>
          <a:bodyPr wrap="square" lIns="0" tIns="0" rIns="0" bIns="0" rtlCol="0" anchor="t"/>
          <a:lstStyle/>
          <a:p>
            <a:pPr indent="0" marL="0">
              <a:buNone/>
            </a:pPr>
            <a:r>
              <a:rPr lang="en-US" sz="2600" b="1" dirty="0">
                <a:solidFill>
                  <a:srgbClr val="0E2A3B"/>
                </a:solidFill>
                <a:latin typeface="Arial" pitchFamily="34" charset="0"/>
                <a:ea typeface="Arial" pitchFamily="34" charset="-122"/>
                <a:cs typeface="Arial" pitchFamily="34" charset="-120"/>
              </a:rPr>
              <a:t>The random walk's role as anchor was learned from performance, not imposed</a:t>
            </a:r>
            <a:endParaRPr lang="en-US" sz="2600" dirty="0"/>
          </a:p>
        </p:txBody>
      </p:sp>
      <p:sp>
        <p:nvSpPr>
          <p:cNvPr id="3" name="Shape 1"/>
          <p:cNvSpPr/>
          <p:nvPr/>
        </p:nvSpPr>
        <p:spPr>
          <a:xfrm>
            <a:off x="566928" y="1243584"/>
            <a:ext cx="11064240" cy="18288"/>
          </a:xfrm>
          <a:prstGeom prst="rect">
            <a:avLst/>
          </a:prstGeom>
          <a:solidFill>
            <a:srgbClr val="D6DEE6"/>
          </a:solidFill>
          <a:ln w="12700">
            <a:solidFill>
              <a:srgbClr val="D6DEE6"/>
            </a:solidFill>
            <a:prstDash val="solid"/>
          </a:ln>
        </p:spPr>
      </p:sp>
      <p:sp>
        <p:nvSpPr>
          <p:cNvPr id="4" name="Text 2"/>
          <p:cNvSpPr/>
          <p:nvPr/>
        </p:nvSpPr>
        <p:spPr>
          <a:xfrm>
            <a:off x="566928" y="54864"/>
            <a:ext cx="11064240" cy="237744"/>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Appendix D</a:t>
            </a:r>
            <a:endParaRPr lang="en-US" sz="1300" dirty="0"/>
          </a:p>
        </p:txBody>
      </p:sp>
      <p:pic>
        <p:nvPicPr>
          <p:cNvPr id="5" name="Image 0" descr="C:\Users\aakas\Documents\Projects\Hackathon\figures\combination_weights.png">    </p:cNvPr>
          <p:cNvPicPr>
            <a:picLocks noChangeAspect="1"/>
          </p:cNvPicPr>
          <p:nvPr/>
        </p:nvPicPr>
        <p:blipFill>
          <a:blip r:embed="rId1"/>
          <a:stretch>
            <a:fillRect/>
          </a:stretch>
        </p:blipFill>
        <p:spPr>
          <a:xfrm>
            <a:off x="566928" y="1371600"/>
            <a:ext cx="6949440" cy="3090672"/>
          </a:xfrm>
          <a:prstGeom prst="rect">
            <a:avLst/>
          </a:prstGeom>
        </p:spPr>
      </p:pic>
      <p:sp>
        <p:nvSpPr>
          <p:cNvPr id="6" name="Text 3"/>
          <p:cNvSpPr/>
          <p:nvPr/>
        </p:nvSpPr>
        <p:spPr>
          <a:xfrm>
            <a:off x="7772400" y="1463040"/>
            <a:ext cx="3931920" cy="2926080"/>
          </a:xfrm>
          <a:prstGeom prst="rect">
            <a:avLst/>
          </a:prstGeom>
          <a:noFill/>
          <a:ln/>
        </p:spPr>
        <p:txBody>
          <a:bodyPr wrap="square" lIns="0" tIns="0" rIns="0" bIns="0" rtlCol="0" anchor="ctr"/>
          <a:lstStyle/>
          <a:p>
            <a:pPr marL="342900" indent="-342900">
              <a:spcAft>
                <a:spcPts val="1000"/>
              </a:spcAft>
              <a:buSzPct val="100000"/>
              <a:buChar char="•"/>
            </a:pPr>
            <a:r>
              <a:rPr lang="en-US" sz="1700" b="1" dirty="0">
                <a:solidFill>
                  <a:srgbClr val="1F2937"/>
                </a:solidFill>
                <a:latin typeface="Arial" pitchFamily="34" charset="0"/>
                <a:ea typeface="Arial" pitchFamily="34" charset="-122"/>
                <a:cs typeface="Arial" pitchFamily="34" charset="-120"/>
              </a:rPr>
              <a:t>Frozen on the 2015 to 2020 validation era:</a:t>
            </a:r>
            <a:endParaRPr lang="en-US" sz="1700" dirty="0"/>
          </a:p>
          <a:p>
            <a:pPr indent="0" marL="0">
              <a:spcAft>
                <a:spcPts val="1000"/>
              </a:spcAft>
              <a:buNone/>
            </a:pPr>
            <a:r>
              <a:rPr lang="en-US" sz="1700" dirty="0">
                <a:solidFill>
                  <a:srgbClr val="1F2937"/>
                </a:solidFill>
                <a:latin typeface="Arial" pitchFamily="34" charset="0"/>
                <a:ea typeface="Arial" pitchFamily="34" charset="-122"/>
                <a:cs typeface="Arial" pitchFamily="34" charset="-120"/>
              </a:rPr>
              <a:t>ridge on the full feature set, no intercept</a:t>
            </a:r>
            <a:endParaRPr lang="en-US" sz="1700" dirty="0"/>
          </a:p>
          <a:p>
            <a:pPr indent="0" marL="0">
              <a:spcAft>
                <a:spcPts val="1000"/>
              </a:spcAft>
              <a:buNone/>
            </a:pPr>
            <a:r>
              <a:rPr lang="en-US" sz="1700" dirty="0">
                <a:solidFill>
                  <a:srgbClr val="1F2937"/>
                </a:solidFill>
                <a:latin typeface="Arial" pitchFamily="34" charset="0"/>
                <a:ea typeface="Arial" pitchFamily="34" charset="-122"/>
                <a:cs typeface="Arial" pitchFamily="34" charset="-120"/>
              </a:rPr>
              <a:t>decay 0.97 on past errors</a:t>
            </a:r>
            <a:endParaRPr lang="en-US" sz="1700" dirty="0"/>
          </a:p>
          <a:p>
            <a:pPr indent="0" marL="0">
              <a:spcAft>
                <a:spcPts val="1000"/>
              </a:spcAft>
              <a:buNone/>
            </a:pPr>
            <a:r>
              <a:rPr lang="en-US" sz="1700" dirty="0">
                <a:solidFill>
                  <a:srgbClr val="1F2937"/>
                </a:solidFill>
                <a:latin typeface="Arial" pitchFamily="34" charset="0"/>
                <a:ea typeface="Arial" pitchFamily="34" charset="-122"/>
                <a:cs typeface="Arial" pitchFamily="34" charset="-120"/>
              </a:rPr>
              <a:t>sharpness 2</a:t>
            </a:r>
            <a:endParaRPr lang="en-US" sz="1700" dirty="0"/>
          </a:p>
          <a:p>
            <a:pPr indent="0" marL="0">
              <a:spcAft>
                <a:spcPts val="1000"/>
              </a:spcAft>
              <a:buNone/>
            </a:pPr>
            <a:r>
              <a:rPr lang="en-US" sz="1700" dirty="0">
                <a:solidFill>
                  <a:srgbClr val="1F2937"/>
                </a:solidFill>
                <a:latin typeface="Arial" pitchFamily="34" charset="0"/>
                <a:ea typeface="Arial" pitchFamily="34" charset="-122"/>
                <a:cs typeface="Arial" pitchFamily="34" charset="-120"/>
              </a:rPr>
              <a:t>window of 156 resolved origins</a:t>
            </a:r>
            <a:endParaRPr lang="en-US" sz="1700" dirty="0"/>
          </a:p>
        </p:txBody>
      </p:sp>
      <p:sp>
        <p:nvSpPr>
          <p:cNvPr id="7" name="Text 4"/>
          <p:cNvSpPr/>
          <p:nvPr/>
        </p:nvSpPr>
        <p:spPr>
          <a:xfrm>
            <a:off x="566928" y="4754880"/>
            <a:ext cx="11064240" cy="822960"/>
          </a:xfrm>
          <a:prstGeom prst="rect">
            <a:avLst/>
          </a:prstGeom>
          <a:noFill/>
          <a:ln/>
        </p:spPr>
        <p:txBody>
          <a:bodyPr wrap="square" lIns="0" tIns="0" rIns="0" bIns="0" rtlCol="0" anchor="ctr"/>
          <a:lstStyle/>
          <a:p>
            <a:pPr indent="0" marL="0">
              <a:buNone/>
            </a:pPr>
            <a:r>
              <a:rPr lang="en-US" sz="1800" dirty="0">
                <a:solidFill>
                  <a:srgbClr val="1F2937"/>
                </a:solidFill>
                <a:latin typeface="Arial" pitchFamily="34" charset="0"/>
                <a:ea typeface="Arial" pitchFamily="34" charset="-122"/>
                <a:cs typeface="Arial" pitchFamily="34" charset="-120"/>
              </a:rPr>
              <a:t>When carry earned its way in during 2022 and 2023, weight moved to it. When nothing worked in 2024 and 2025, weight collapsed back to the anchor. A fixed no-change rule cannot do that.</a:t>
            </a:r>
            <a:endParaRPr lang="en-US" sz="1800" dirty="0"/>
          </a:p>
        </p:txBody>
      </p:sp>
      <p:sp>
        <p:nvSpPr>
          <p:cNvPr id="8" name="Text 5"/>
          <p:cNvSpPr/>
          <p:nvPr/>
        </p:nvSpPr>
        <p:spPr>
          <a:xfrm>
            <a:off x="566928" y="6327648"/>
            <a:ext cx="11064240" cy="274320"/>
          </a:xfrm>
          <a:prstGeom prst="rect">
            <a:avLst/>
          </a:prstGeom>
          <a:noFill/>
          <a:ln/>
        </p:spPr>
        <p:txBody>
          <a:bodyPr wrap="square" lIns="0" tIns="0" rIns="0" bIns="0" rtlCol="0" anchor="ctr"/>
          <a:lstStyle/>
          <a:p>
            <a:pPr indent="0" marL="0">
              <a:buNone/>
            </a:pPr>
            <a:r>
              <a:rPr lang="en-US" sz="1300" dirty="0">
                <a:solidFill>
                  <a:srgbClr val="6B7280"/>
                </a:solidFill>
                <a:latin typeface="Arial" pitchFamily="34" charset="0"/>
                <a:ea typeface="Arial" pitchFamily="34" charset="-122"/>
                <a:cs typeface="Arial" pitchFamily="34" charset="-120"/>
              </a:rPr>
              <a:t>Own calculation. Full validation grid in validation_metrics.json.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914400"/>
          </a:xfrm>
          <a:prstGeom prst="rect">
            <a:avLst/>
          </a:prstGeom>
          <a:noFill/>
          <a:ln/>
        </p:spPr>
        <p:txBody>
          <a:bodyPr wrap="square" lIns="0" tIns="0" rIns="0" bIns="0" rtlCol="0" anchor="t"/>
          <a:lstStyle/>
          <a:p>
            <a:pPr indent="0" marL="0">
              <a:buNone/>
            </a:pPr>
            <a:r>
              <a:rPr lang="en-US" sz="2600" b="1" dirty="0">
                <a:solidFill>
                  <a:srgbClr val="0E2A3B"/>
                </a:solidFill>
                <a:latin typeface="Arial" pitchFamily="34" charset="0"/>
                <a:ea typeface="Arial" pitchFamily="34" charset="-122"/>
                <a:cs typeface="Arial" pitchFamily="34" charset="-120"/>
              </a:rPr>
              <a:t>We ran machine learning under identical rules and it lost by 2.2%</a:t>
            </a:r>
            <a:endParaRPr lang="en-US" sz="2600" dirty="0"/>
          </a:p>
        </p:txBody>
      </p:sp>
      <p:sp>
        <p:nvSpPr>
          <p:cNvPr id="3" name="Shape 1"/>
          <p:cNvSpPr/>
          <p:nvPr/>
        </p:nvSpPr>
        <p:spPr>
          <a:xfrm>
            <a:off x="566928" y="1243584"/>
            <a:ext cx="11064240" cy="18288"/>
          </a:xfrm>
          <a:prstGeom prst="rect">
            <a:avLst/>
          </a:prstGeom>
          <a:solidFill>
            <a:srgbClr val="D6DEE6"/>
          </a:solidFill>
          <a:ln w="12700">
            <a:solidFill>
              <a:srgbClr val="D6DEE6"/>
            </a:solidFill>
            <a:prstDash val="solid"/>
          </a:ln>
        </p:spPr>
      </p:sp>
      <p:sp>
        <p:nvSpPr>
          <p:cNvPr id="4" name="Text 2"/>
          <p:cNvSpPr/>
          <p:nvPr/>
        </p:nvSpPr>
        <p:spPr>
          <a:xfrm>
            <a:off x="566928" y="54864"/>
            <a:ext cx="11064240" cy="237744"/>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Appendix E</a:t>
            </a:r>
            <a:endParaRPr lang="en-US" sz="1300" dirty="0"/>
          </a:p>
        </p:txBody>
      </p:sp>
      <p:sp>
        <p:nvSpPr>
          <p:cNvPr id="5" name="Shape 3"/>
          <p:cNvSpPr/>
          <p:nvPr/>
        </p:nvSpPr>
        <p:spPr>
          <a:xfrm>
            <a:off x="566928" y="1417320"/>
            <a:ext cx="5394960" cy="4023360"/>
          </a:xfrm>
          <a:prstGeom prst="roundRect">
            <a:avLst>
              <a:gd name="adj" fmla="val 2273"/>
            </a:avLst>
          </a:prstGeom>
          <a:solidFill>
            <a:srgbClr val="F1F6F3"/>
          </a:solidFill>
          <a:ln w="12700">
            <a:solidFill>
              <a:srgbClr val="D6DEE6"/>
            </a:solidFill>
            <a:prstDash val="solid"/>
          </a:ln>
        </p:spPr>
      </p:sp>
      <p:sp>
        <p:nvSpPr>
          <p:cNvPr id="6" name="Text 4"/>
          <p:cNvSpPr/>
          <p:nvPr/>
        </p:nvSpPr>
        <p:spPr>
          <a:xfrm>
            <a:off x="868680" y="1645920"/>
            <a:ext cx="4754880" cy="310896"/>
          </a:xfrm>
          <a:prstGeom prst="rect">
            <a:avLst/>
          </a:prstGeom>
          <a:noFill/>
          <a:ln/>
        </p:spPr>
        <p:txBody>
          <a:bodyPr wrap="square" lIns="0" tIns="0" rIns="0" bIns="0" rtlCol="0" anchor="ctr"/>
          <a:lstStyle/>
          <a:p>
            <a:pPr indent="0" marL="0">
              <a:buNone/>
            </a:pPr>
            <a:r>
              <a:rPr lang="en-US" sz="2000" b="1" dirty="0">
                <a:solidFill>
                  <a:srgbClr val="1A7A4A"/>
                </a:solidFill>
                <a:latin typeface="Arial" pitchFamily="34" charset="0"/>
                <a:ea typeface="Arial" pitchFamily="34" charset="-122"/>
                <a:cs typeface="Arial" pitchFamily="34" charset="-120"/>
              </a:rPr>
              <a:t>What we ran</a:t>
            </a:r>
            <a:endParaRPr lang="en-US" sz="2000" dirty="0"/>
          </a:p>
        </p:txBody>
      </p:sp>
      <p:sp>
        <p:nvSpPr>
          <p:cNvPr id="7" name="Text 5"/>
          <p:cNvSpPr/>
          <p:nvPr/>
        </p:nvSpPr>
        <p:spPr>
          <a:xfrm>
            <a:off x="868680" y="2103120"/>
            <a:ext cx="4754880" cy="3108960"/>
          </a:xfrm>
          <a:prstGeom prst="rect">
            <a:avLst/>
          </a:prstGeom>
          <a:noFill/>
          <a:ln/>
        </p:spPr>
        <p:txBody>
          <a:bodyPr wrap="square" lIns="0" tIns="0" rIns="0" bIns="0" rtlCol="0" anchor="t"/>
          <a:lstStyle/>
          <a:p>
            <a:pPr indent="0" marL="0">
              <a:buNone/>
            </a:pPr>
            <a:r>
              <a:rPr lang="en-US" sz="1800" dirty="0">
                <a:solidFill>
                  <a:srgbClr val="1F2937"/>
                </a:solidFill>
                <a:latin typeface="Arial" pitchFamily="34" charset="0"/>
                <a:ea typeface="Arial" pitchFamily="34" charset="-122"/>
                <a:cs typeface="Arial" pitchFamily="34" charset="-120"/>
              </a:rPr>
              <a:t>HistGradientBoosting with a fixed seed. Once a year, purged cross-validation picks its depth, learning rate, iterations, L2 penalty and leaf size from 12 configurations. Same information set, same embargo and same walk-forward loop as every other model.</a:t>
            </a:r>
            <a:endParaRPr lang="en-US" sz="1800" dirty="0"/>
          </a:p>
        </p:txBody>
      </p:sp>
      <p:sp>
        <p:nvSpPr>
          <p:cNvPr id="8" name="Shape 6"/>
          <p:cNvSpPr/>
          <p:nvPr/>
        </p:nvSpPr>
        <p:spPr>
          <a:xfrm>
            <a:off x="6263640" y="1417320"/>
            <a:ext cx="5394960" cy="4023360"/>
          </a:xfrm>
          <a:prstGeom prst="roundRect">
            <a:avLst>
              <a:gd name="adj" fmla="val 2273"/>
            </a:avLst>
          </a:prstGeom>
          <a:solidFill>
            <a:srgbClr val="F1F6F3"/>
          </a:solidFill>
          <a:ln w="12700">
            <a:solidFill>
              <a:srgbClr val="D6DEE6"/>
            </a:solidFill>
            <a:prstDash val="solid"/>
          </a:ln>
        </p:spPr>
      </p:sp>
      <p:sp>
        <p:nvSpPr>
          <p:cNvPr id="9" name="Text 7"/>
          <p:cNvSpPr/>
          <p:nvPr/>
        </p:nvSpPr>
        <p:spPr>
          <a:xfrm>
            <a:off x="6583680" y="1645920"/>
            <a:ext cx="4754880" cy="310896"/>
          </a:xfrm>
          <a:prstGeom prst="rect">
            <a:avLst/>
          </a:prstGeom>
          <a:noFill/>
          <a:ln/>
        </p:spPr>
        <p:txBody>
          <a:bodyPr wrap="square" lIns="0" tIns="0" rIns="0" bIns="0" rtlCol="0" anchor="ctr"/>
          <a:lstStyle/>
          <a:p>
            <a:pPr indent="0" marL="0">
              <a:buNone/>
            </a:pPr>
            <a:r>
              <a:rPr lang="en-US" sz="2000" b="1" dirty="0">
                <a:solidFill>
                  <a:srgbClr val="1A7A4A"/>
                </a:solidFill>
                <a:latin typeface="Arial" pitchFamily="34" charset="0"/>
                <a:ea typeface="Arial" pitchFamily="34" charset="-122"/>
                <a:cs typeface="Arial" pitchFamily="34" charset="-120"/>
              </a:rPr>
              <a:t>Why it lost</a:t>
            </a:r>
            <a:endParaRPr lang="en-US" sz="2000" dirty="0"/>
          </a:p>
        </p:txBody>
      </p:sp>
      <p:sp>
        <p:nvSpPr>
          <p:cNvPr id="10" name="Text 8"/>
          <p:cNvSpPr/>
          <p:nvPr/>
        </p:nvSpPr>
        <p:spPr>
          <a:xfrm>
            <a:off x="6583680" y="2103120"/>
            <a:ext cx="4754880" cy="3108960"/>
          </a:xfrm>
          <a:prstGeom prst="rect">
            <a:avLst/>
          </a:prstGeom>
          <a:noFill/>
          <a:ln/>
        </p:spPr>
        <p:txBody>
          <a:bodyPr wrap="square" lIns="0" tIns="0" rIns="0" bIns="0" rtlCol="0" anchor="t"/>
          <a:lstStyle/>
          <a:p>
            <a:pPr indent="0" marL="0">
              <a:buNone/>
            </a:pPr>
            <a:r>
              <a:rPr lang="en-US" sz="1800" dirty="0">
                <a:solidFill>
                  <a:srgbClr val="1F2937"/>
                </a:solidFill>
                <a:latin typeface="Arial" pitchFamily="34" charset="0"/>
                <a:ea typeface="Arial" pitchFamily="34" charset="-122"/>
                <a:cs typeface="Arial" pitchFamily="34" charset="-120"/>
              </a:rPr>
              <a:t>About 850 weekly observations, heavily overlapping, with a tiny signal. A learner that can represent thresholds and interactions finds plenty of both, but those patterns belong to that stretch of history rather than to the currency, so they do not repeat out of sample.</a:t>
            </a:r>
            <a:endParaRPr lang="en-US" sz="1800" dirty="0"/>
          </a:p>
        </p:txBody>
      </p:sp>
      <p:sp>
        <p:nvSpPr>
          <p:cNvPr id="11" name="Text 9"/>
          <p:cNvSpPr/>
          <p:nvPr/>
        </p:nvSpPr>
        <p:spPr>
          <a:xfrm>
            <a:off x="566928" y="6327648"/>
            <a:ext cx="11064240" cy="274320"/>
          </a:xfrm>
          <a:prstGeom prst="rect">
            <a:avLst/>
          </a:prstGeom>
          <a:noFill/>
          <a:ln/>
        </p:spPr>
        <p:txBody>
          <a:bodyPr wrap="square" lIns="0" tIns="0" rIns="0" bIns="0" rtlCol="0" anchor="ctr"/>
          <a:lstStyle/>
          <a:p>
            <a:pPr indent="0" marL="0">
              <a:buNone/>
            </a:pPr>
            <a:r>
              <a:rPr lang="en-US" sz="1300" dirty="0">
                <a:solidFill>
                  <a:srgbClr val="6B7280"/>
                </a:solidFill>
                <a:latin typeface="Arial" pitchFamily="34" charset="0"/>
                <a:ea typeface="Arial" pitchFamily="34" charset="-122"/>
                <a:cs typeface="Arial" pitchFamily="34" charset="-120"/>
              </a:rPr>
              <a:t>Makridakis, Spiliotis and Assimakopoulos (2020, 2022) report the same conclusion across thousands of series.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914400"/>
          </a:xfrm>
          <a:prstGeom prst="rect">
            <a:avLst/>
          </a:prstGeom>
          <a:noFill/>
          <a:ln/>
        </p:spPr>
        <p:txBody>
          <a:bodyPr wrap="square" lIns="0" tIns="0" rIns="0" bIns="0" rtlCol="0" anchor="t"/>
          <a:lstStyle/>
          <a:p>
            <a:pPr indent="0" marL="0">
              <a:buNone/>
            </a:pPr>
            <a:r>
              <a:rPr lang="en-US" sz="2600" b="1" dirty="0">
                <a:solidFill>
                  <a:srgbClr val="0E2A3B"/>
                </a:solidFill>
                <a:latin typeface="Arial" pitchFamily="34" charset="0"/>
                <a:ea typeface="Arial" pitchFamily="34" charset="-122"/>
                <a:cs typeface="Arial" pitchFamily="34" charset="-120"/>
              </a:rPr>
              <a:t>Forecasts track the realised series closely and lag it slightly, as a near-random walk should</a:t>
            </a:r>
            <a:endParaRPr lang="en-US" sz="2600" dirty="0"/>
          </a:p>
        </p:txBody>
      </p:sp>
      <p:sp>
        <p:nvSpPr>
          <p:cNvPr id="3" name="Shape 1"/>
          <p:cNvSpPr/>
          <p:nvPr/>
        </p:nvSpPr>
        <p:spPr>
          <a:xfrm>
            <a:off x="566928" y="1243584"/>
            <a:ext cx="11064240" cy="18288"/>
          </a:xfrm>
          <a:prstGeom prst="rect">
            <a:avLst/>
          </a:prstGeom>
          <a:solidFill>
            <a:srgbClr val="D6DEE6"/>
          </a:solidFill>
          <a:ln w="12700">
            <a:solidFill>
              <a:srgbClr val="D6DEE6"/>
            </a:solidFill>
            <a:prstDash val="solid"/>
          </a:ln>
        </p:spPr>
      </p:sp>
      <p:sp>
        <p:nvSpPr>
          <p:cNvPr id="4" name="Text 2"/>
          <p:cNvSpPr/>
          <p:nvPr/>
        </p:nvSpPr>
        <p:spPr>
          <a:xfrm>
            <a:off x="566928" y="54864"/>
            <a:ext cx="11064240" cy="237744"/>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Appendix F</a:t>
            </a:r>
            <a:endParaRPr lang="en-US" sz="1300" dirty="0"/>
          </a:p>
        </p:txBody>
      </p:sp>
      <p:pic>
        <p:nvPicPr>
          <p:cNvPr id="5" name="Image 0" descr="C:\Users\aakas\Documents\Projects\Hackathon\figures\forecasts_vs_actual.png">    </p:cNvPr>
          <p:cNvPicPr>
            <a:picLocks noChangeAspect="1"/>
          </p:cNvPicPr>
          <p:nvPr/>
        </p:nvPicPr>
        <p:blipFill>
          <a:blip r:embed="rId1"/>
          <a:stretch>
            <a:fillRect/>
          </a:stretch>
        </p:blipFill>
        <p:spPr>
          <a:xfrm>
            <a:off x="1188720" y="1325880"/>
            <a:ext cx="9784080" cy="4599432"/>
          </a:xfrm>
          <a:prstGeom prst="rect">
            <a:avLst/>
          </a:prstGeom>
        </p:spPr>
      </p:pic>
      <p:sp>
        <p:nvSpPr>
          <p:cNvPr id="6" name="Text 3"/>
          <p:cNvSpPr/>
          <p:nvPr/>
        </p:nvSpPr>
        <p:spPr>
          <a:xfrm>
            <a:off x="566928" y="6327648"/>
            <a:ext cx="11064240" cy="274320"/>
          </a:xfrm>
          <a:prstGeom prst="rect">
            <a:avLst/>
          </a:prstGeom>
          <a:noFill/>
          <a:ln/>
        </p:spPr>
        <p:txBody>
          <a:bodyPr wrap="square" lIns="0" tIns="0" rIns="0" bIns="0" rtlCol="0" anchor="ctr"/>
          <a:lstStyle/>
          <a:p>
            <a:pPr indent="0" marL="0">
              <a:buNone/>
            </a:pPr>
            <a:r>
              <a:rPr lang="en-US" sz="1300" dirty="0">
                <a:solidFill>
                  <a:srgbClr val="6B7280"/>
                </a:solidFill>
                <a:latin typeface="Arial" pitchFamily="34" charset="0"/>
                <a:ea typeface="Arial" pitchFamily="34" charset="-122"/>
                <a:cs typeface="Arial" pitchFamily="34" charset="-120"/>
              </a:rPr>
              <a:t>Own calculation. Forecasts plotted at their target dates against EXCX135.</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64240" cy="914400"/>
          </a:xfrm>
          <a:prstGeom prst="rect">
            <a:avLst/>
          </a:prstGeom>
          <a:noFill/>
          <a:ln/>
        </p:spPr>
        <p:txBody>
          <a:bodyPr wrap="square" lIns="0" tIns="0" rIns="0" bIns="0" rtlCol="0" anchor="t"/>
          <a:lstStyle/>
          <a:p>
            <a:pPr indent="0" marL="0">
              <a:buNone/>
            </a:pPr>
            <a:r>
              <a:rPr lang="en-US" sz="2600" b="1" dirty="0">
                <a:solidFill>
                  <a:srgbClr val="0E2A3B"/>
                </a:solidFill>
                <a:latin typeface="Arial" pitchFamily="34" charset="0"/>
                <a:ea typeface="Arial" pitchFamily="34" charset="-122"/>
                <a:cs typeface="Arial" pitchFamily="34" charset="-120"/>
              </a:rPr>
              <a:t>One forecast in full: on 3 June 2022 the AR(1) was the worst of the sensible models</a:t>
            </a:r>
            <a:endParaRPr lang="en-US" sz="2600" dirty="0"/>
          </a:p>
        </p:txBody>
      </p:sp>
      <p:sp>
        <p:nvSpPr>
          <p:cNvPr id="3" name="Shape 1"/>
          <p:cNvSpPr/>
          <p:nvPr/>
        </p:nvSpPr>
        <p:spPr>
          <a:xfrm>
            <a:off x="566928" y="1243584"/>
            <a:ext cx="11064240" cy="18288"/>
          </a:xfrm>
          <a:prstGeom prst="rect">
            <a:avLst/>
          </a:prstGeom>
          <a:solidFill>
            <a:srgbClr val="D6DEE6"/>
          </a:solidFill>
          <a:ln w="12700">
            <a:solidFill>
              <a:srgbClr val="D6DEE6"/>
            </a:solidFill>
            <a:prstDash val="solid"/>
          </a:ln>
        </p:spPr>
      </p:sp>
      <p:sp>
        <p:nvSpPr>
          <p:cNvPr id="4" name="Text 2"/>
          <p:cNvSpPr/>
          <p:nvPr/>
        </p:nvSpPr>
        <p:spPr>
          <a:xfrm>
            <a:off x="566928" y="54864"/>
            <a:ext cx="11064240" cy="237744"/>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Appendix G</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64240" cy="914400"/>
        </p:xfrm>
        <a:graphic>
          <a:graphicData uri="http://schemas.openxmlformats.org/drawingml/2006/table">
            <a:tbl>
              <a:tblPr/>
              <a:tblGrid>
                <a:gridCol w="2194560"/>
                <a:gridCol w="1737360"/>
                <a:gridCol w="5120640"/>
                <a:gridCol w="2011680"/>
              </a:tblGrid>
              <a:tr h="502920">
                <a:tc>
                  <a:txBody>
                    <a:bodyPr/>
                    <a:lstStyle/>
                    <a:p>
                      <a:pPr indent="0" marL="0">
                        <a:buNone/>
                      </a:pPr>
                      <a:r>
                        <a:rPr lang="en-US" sz="1400" b="1" dirty="0">
                          <a:solidFill>
                            <a:srgbClr val="FFFFFF"/>
                          </a:solidFill>
                          <a:latin typeface="Arial" pitchFamily="34" charset="0"/>
                          <a:ea typeface="Arial" pitchFamily="34" charset="-122"/>
                          <a:cs typeface="Arial" pitchFamily="34" charset="-120"/>
                        </a:rPr>
                        <a:t>Model</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0E2A3B"/>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Forecast</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0E2A3B"/>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How it got there</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0E2A3B"/>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Error</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solidFill>
                      <a:srgbClr val="0E2A3B"/>
                    </a:solidFill>
                  </a:tcPr>
                </a:tc>
              </a:tr>
              <a:tr h="502920">
                <a:tc>
                  <a:txBody>
                    <a:bodyPr/>
                    <a:lstStyle/>
                    <a:p>
                      <a:pPr indent="0" marL="0">
                        <a:buNone/>
                      </a:pPr>
                      <a:r>
                        <a:rPr lang="en-US" sz="1400" dirty="0">
                          <a:solidFill>
                            <a:srgbClr val="1F2937"/>
                          </a:solidFill>
                          <a:latin typeface="Arial" pitchFamily="34" charset="0"/>
                          <a:ea typeface="Arial" pitchFamily="34" charset="-122"/>
                          <a:cs typeface="Arial" pitchFamily="34" charset="-120"/>
                        </a:rPr>
                        <a:t>Random walk</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15.4117</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today's rate, unchanged</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-0.9365</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r>
              <a:tr h="502920">
                <a:tc>
                  <a:txBody>
                    <a:bodyPr/>
                    <a:lstStyle/>
                    <a:p>
                      <a:pPr indent="0" marL="0">
                        <a:buNone/>
                      </a:pPr>
                      <a:r>
                        <a:rPr lang="en-US" sz="1400" dirty="0">
                          <a:solidFill>
                            <a:srgbClr val="1F2937"/>
                          </a:solidFill>
                          <a:latin typeface="Arial" pitchFamily="34" charset="0"/>
                          <a:ea typeface="Arial" pitchFamily="34" charset="-122"/>
                          <a:cs typeface="Arial" pitchFamily="34" charset="-120"/>
                        </a:rPr>
                        <a:t>Carry</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15.4557</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15.4117 x (1 + 0.0372 x 28/365)</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-0.8925</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r>
              <a:tr h="502920">
                <a:tc>
                  <a:txBody>
                    <a:bodyPr/>
                    <a:lstStyle/>
                    <a:p>
                      <a:pPr indent="0" marL="0">
                        <a:buNone/>
                      </a:pPr>
                      <a:r>
                        <a:rPr lang="en-US" sz="1400" dirty="0">
                          <a:solidFill>
                            <a:srgbClr val="1F2937"/>
                          </a:solidFill>
                          <a:latin typeface="Arial" pitchFamily="34" charset="0"/>
                          <a:ea typeface="Arial" pitchFamily="34" charset="-122"/>
                          <a:cs typeface="Arial" pitchFamily="34" charset="-120"/>
                        </a:rPr>
                        <a:t>AR(1)</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15.3861</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iterated 4 steps toward its implied mean, R13.01 that day</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-0.9621</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r>
              <a:tr h="502920">
                <a:tc>
                  <a:txBody>
                    <a:bodyPr/>
                    <a:lstStyle/>
                    <a:p>
                      <a:pPr indent="0" marL="0">
                        <a:buNone/>
                      </a:pPr>
                      <a:r>
                        <a:rPr lang="en-US" sz="1400" dirty="0">
                          <a:solidFill>
                            <a:srgbClr val="1F2937"/>
                          </a:solidFill>
                          <a:latin typeface="Arial" pitchFamily="34" charset="0"/>
                          <a:ea typeface="Arial" pitchFamily="34" charset="-122"/>
                          <a:cs typeface="Arial" pitchFamily="34" charset="-120"/>
                        </a:rPr>
                        <a:t>Ridge</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15.4089</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small tilt away from spot</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-0.9393</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r>
              <a:tr h="502920">
                <a:tc>
                  <a:txBody>
                    <a:bodyPr/>
                    <a:lstStyle/>
                    <a:p>
                      <a:pPr indent="0" marL="0">
                        <a:buNone/>
                      </a:pPr>
                      <a:r>
                        <a:rPr lang="en-US" sz="1400" b="1" dirty="0">
                          <a:solidFill>
                            <a:srgbClr val="1F2937"/>
                          </a:solidFill>
                          <a:latin typeface="Arial" pitchFamily="34" charset="0"/>
                          <a:ea typeface="Arial" pitchFamily="34" charset="-122"/>
                          <a:cs typeface="Arial" pitchFamily="34" charset="-120"/>
                        </a:rPr>
                        <a:t>Combination</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indent="0" marL="0">
                        <a:buNone/>
                      </a:pPr>
                      <a:r>
                        <a:rPr lang="en-US" sz="1400" b="1" dirty="0">
                          <a:solidFill>
                            <a:srgbClr val="1F2937"/>
                          </a:solidFill>
                          <a:latin typeface="Arial" pitchFamily="34" charset="0"/>
                          <a:ea typeface="Arial" pitchFamily="34" charset="-122"/>
                          <a:cs typeface="Arial" pitchFamily="34" charset="-120"/>
                        </a:rPr>
                        <a:t>15.4256</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indent="0" marL="0">
                        <a:buNone/>
                      </a:pPr>
                      <a:r>
                        <a:rPr lang="en-US" sz="1400" dirty="0">
                          <a:solidFill>
                            <a:srgbClr val="1F2937"/>
                          </a:solidFill>
                          <a:latin typeface="Arial" pitchFamily="34" charset="0"/>
                          <a:ea typeface="Arial" pitchFamily="34" charset="-122"/>
                          <a:cs typeface="Arial" pitchFamily="34" charset="-120"/>
                        </a:rPr>
                        <a:t>0.333 x RW + 0.337 x Carry + 0.331 x Ridge</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c>
                  <a:txBody>
                    <a:bodyPr/>
                    <a:lstStyle/>
                    <a:p>
                      <a:pPr indent="0" marL="0">
                        <a:buNone/>
                      </a:pPr>
                      <a:r>
                        <a:rPr lang="en-US" sz="1400" b="1" dirty="0">
                          <a:solidFill>
                            <a:srgbClr val="1F2937"/>
                          </a:solidFill>
                          <a:latin typeface="Arial" pitchFamily="34" charset="0"/>
                          <a:ea typeface="Arial" pitchFamily="34" charset="-122"/>
                          <a:cs typeface="Arial" pitchFamily="34" charset="-120"/>
                        </a:rPr>
                        <a:t>-0.9226</a:t>
                      </a:r>
                      <a:endParaRPr lang="en-US" sz="1400" dirty="0">
                        <a:latin typeface="Arial" charset="0"/>
                        <a:ea typeface="Arial" charset="0"/>
                        <a:cs typeface="Arial" charset="0"/>
                      </a:endParaRPr>
                    </a:p>
                  </a:txBody>
                  <a:tcPr marL="54864" marR="54864" marT="54864" marB="54864" anchor="ctr">
                    <a:lnL w="6350" cap="flat" cmpd="sng" algn="ctr">
                      <a:solidFill>
                        <a:srgbClr val="D6DEE6"/>
                      </a:solidFill>
                      <a:prstDash val="solid"/>
                      <a:round/>
                      <a:headEnd type="none" w="med" len="med"/>
                      <a:tailEnd type="none" w="med" len="med"/>
                    </a:lnL>
                    <a:lnR w="6350" cap="flat" cmpd="sng" algn="ctr">
                      <a:solidFill>
                        <a:srgbClr val="D6DEE6"/>
                      </a:solidFill>
                      <a:prstDash val="solid"/>
                      <a:round/>
                      <a:headEnd type="none" w="med" len="med"/>
                      <a:tailEnd type="none" w="med" len="med"/>
                    </a:lnR>
                    <a:lnT w="6350" cap="flat" cmpd="sng" algn="ctr">
                      <a:solidFill>
                        <a:srgbClr val="D6DEE6"/>
                      </a:solidFill>
                      <a:prstDash val="solid"/>
                      <a:round/>
                      <a:headEnd type="none" w="med" len="med"/>
                      <a:tailEnd type="none" w="med" len="med"/>
                    </a:lnT>
                    <a:lnB w="6350" cap="flat" cmpd="sng" algn="ctr">
                      <a:solidFill>
                        <a:srgbClr val="D6DEE6"/>
                      </a:solidFill>
                      <a:prstDash val="solid"/>
                      <a:round/>
                      <a:headEnd type="none" w="med" len="med"/>
                      <a:tailEnd type="none" w="med" len="med"/>
                    </a:lnB>
                  </a:tcPr>
                </a:tc>
              </a:tr>
            </a:tbl>
          </a:graphicData>
        </a:graphic>
      </p:graphicFrame>
      <p:sp>
        <p:nvSpPr>
          <p:cNvPr id="6" name="Text 3"/>
          <p:cNvSpPr/>
          <p:nvPr/>
        </p:nvSpPr>
        <p:spPr>
          <a:xfrm>
            <a:off x="566928" y="4572000"/>
            <a:ext cx="11064240" cy="1097280"/>
          </a:xfrm>
          <a:prstGeom prst="rect">
            <a:avLst/>
          </a:prstGeom>
          <a:noFill/>
          <a:ln/>
        </p:spPr>
        <p:txBody>
          <a:bodyPr wrap="square" lIns="0" tIns="0" rIns="0" bIns="0" rtlCol="0" anchor="ctr"/>
          <a:lstStyle/>
          <a:p>
            <a:pPr indent="0" marL="0">
              <a:buNone/>
            </a:pPr>
            <a:r>
              <a:rPr lang="en-US" sz="1800" dirty="0">
                <a:solidFill>
                  <a:srgbClr val="1F2937"/>
                </a:solidFill>
                <a:latin typeface="Arial" pitchFamily="34" charset="0"/>
                <a:ea typeface="Arial" pitchFamily="34" charset="-122"/>
                <a:cs typeface="Arial" pitchFamily="34" charset="-120"/>
              </a:rPr>
              <a:t>Origin Friday 3 June 2022, spot R15.4117. Target 1 July 2022, actual R16.3482. Every model was too low that month. The AR(1) was worst because its implied mean that day was R13.01, and that pull dragged its forecast down exactly when the rand was heading up.</a:t>
            </a:r>
            <a:endParaRPr lang="en-US" sz="1800" dirty="0"/>
          </a:p>
        </p:txBody>
      </p:sp>
      <p:sp>
        <p:nvSpPr>
          <p:cNvPr id="7" name="Text 4"/>
          <p:cNvSpPr/>
          <p:nvPr/>
        </p:nvSpPr>
        <p:spPr>
          <a:xfrm>
            <a:off x="566928" y="6327648"/>
            <a:ext cx="11064240" cy="274320"/>
          </a:xfrm>
          <a:prstGeom prst="rect">
            <a:avLst/>
          </a:prstGeom>
          <a:noFill/>
          <a:ln/>
        </p:spPr>
        <p:txBody>
          <a:bodyPr wrap="square" lIns="0" tIns="0" rIns="0" bIns="0" rtlCol="0" anchor="ctr"/>
          <a:lstStyle/>
          <a:p>
            <a:pPr indent="0" marL="0">
              <a:buNone/>
            </a:pPr>
            <a:r>
              <a:rPr lang="en-US" sz="1300" dirty="0">
                <a:solidFill>
                  <a:srgbClr val="6B7280"/>
                </a:solidFill>
                <a:latin typeface="Arial" pitchFamily="34" charset="0"/>
                <a:ea typeface="Arial" pitchFamily="34" charset="-122"/>
                <a:cs typeface="Arial" pitchFamily="34" charset="-120"/>
              </a:rPr>
              <a:t>Own calculation from forecast_log.csv and combo_weights.csv.</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Forecasting USDZAR one month ahead</dc:title>
  <dc:subject>PptxGenJS Presentation</dc:subject>
  <dc:creator>Spurious Decision - Aakash Anil, Stefan von der Heyden</dc:creator>
  <cp:lastModifiedBy>Spurious Decision - Aakash Anil, Stefan von der Heyden</cp:lastModifiedBy>
  <cp:revision>1</cp:revision>
  <dcterms:created xsi:type="dcterms:W3CDTF">2026-10-08T12:56:22Z</dcterms:created>
  <dcterms:modified xsi:type="dcterms:W3CDTF">2026-10-08T12:56:22Z</dcterms:modified>
</cp:coreProperties>
</file>