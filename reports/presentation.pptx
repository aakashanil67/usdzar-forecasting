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We're team Spurious Decision, and the name is the warning we set ourselves. A spurious relationship looks real in your data and isn't there in the world. At one month the rand is almost a random walk, so we didn't try to out-muscle it. Our combination scores 0.5599 against the AR(1)'s 0.5624 and the random walk's 0.5600. That gap is not statistically significant, and we'll say so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[0:40-1:20] The question. Forecast the rand a month ahead, every Friday, five years, and compare RMSE with an AR(1) out of sample. It is hard because since Meese and Rogoff in 1983 structural models lose to a no-change forecast at this horizon. Our answer is a small gain over the AR(1), 0.44 per cent, that we cannot distinguish from noise, and no gain over the random 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[1:20-2:15] Three simple pieces. A random walk anchor. A carry tilt from the interest gap. A heavily regularised regression on commodity, dollar and risk predictors. Combined by inverse recent error. On the right is how the test is protected: every input joined on when it was public, training only on resolved outcomes, purged cross-validation, weights from resolved errors, and every forecast logged. The ridge variant, decay and sharpness were chosen on 309 validation origins from 2 January 2015 to 27 November 2020. Those scores were used for selection, so they are not independent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[2:15-3:15] The chart is the cumulative squared-error difference against the AR(1); above zero the combination is ahead. It peaked at 1.32 on 28 March 2025 and finished at 0.72, so most of the gain was given back. Separately, the AR(1) is pulled towards a long-run level that sat below spot at every origin, by R2.11 on average, and it never forecast a rise. Squared bias accounts for 55 per cent of its excess squared error against the combination. That is an observation. We have not shown it is the whole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[3:15-4:10] The chart shows each model's RMSE difference from the random walk on the left and from the AR(1) on the right, with 95 per cent intervals. Green is the two comparisons we fixed in advance. The combination is 0.44 per cent below the AR(1) but the interval includes zero, and against the random walk it is level. An equal-weight average of the same three scores 0.5599. Gradient boosting scores 0.5745, the highest of the 13 models, and that covers this specification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[4:10-4:40] Four things. A small gain over the AR(1) that is not statistically established, p 0.449, and level with the random walk. Adaptive weighting adds nothing measurable. The AR(1) leans downward, which we report as an observation. And what we won't claim: significance, directional skill, or profitability, and every 2021 to 2025 result is exploratory. Happy to walk through the code line by line. Are there questions or feedback?  --- LEAVE THIS SLIDE UP FOR Q&amp;A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Here so every source cited on a slide has a full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numeric question: MAE, rank, share of origins at which each model forecast a rise. The AR(1) variants, drift, equal-weight average and adaptive pairs are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AR(1) scored 0.4523 in 2025 against 0.4629 for the combination and 0.4574 for the random walk. We have not tested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data or look-ahead-bias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does the combination adapt, and how do we know settings were frozen before the judged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why didn't you use machine learning. We did, with a small tuned grid, and it scored worst here. That says nothing general about machine learning: the M5 results paper reports the top methods there were ML methods, mostly LightGBM, and that combinations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 judge asks to see the forecasts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what the model actually does. It is the whole project in one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would you test this properly. The 2021 to 2025 window was scored repeatedly during development, so a clean test needs new origins.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822960" y="868680"/>
            <a:ext cx="10515600" cy="164592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Forecasting the rand</a:t>
            </a:r>
            <a:endParaRPr lang="en-US" sz="4200" dirty="0"/>
          </a:p>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one month ahead</a:t>
            </a:r>
            <a:endParaRPr lang="en-US" sz="4200" dirty="0"/>
          </a:p>
        </p:txBody>
      </p:sp>
      <p:sp>
        <p:nvSpPr>
          <p:cNvPr id="3" name="Shape 1"/>
          <p:cNvSpPr/>
          <p:nvPr/>
        </p:nvSpPr>
        <p:spPr>
          <a:xfrm>
            <a:off x="822960" y="2697480"/>
            <a:ext cx="2011680" cy="45720"/>
          </a:xfrm>
          <a:prstGeom prst="rect">
            <a:avLst/>
          </a:prstGeom>
          <a:solidFill>
            <a:srgbClr val="C9A227"/>
          </a:solidFill>
          <a:ln w="12700">
            <a:solidFill>
              <a:srgbClr val="C9A227"/>
            </a:solidFill>
            <a:prstDash val="solid"/>
          </a:ln>
        </p:spPr>
      </p:sp>
      <p:sp>
        <p:nvSpPr>
          <p:cNvPr id="4" name="Text 2"/>
          <p:cNvSpPr/>
          <p:nvPr/>
        </p:nvSpPr>
        <p:spPr>
          <a:xfrm>
            <a:off x="822960" y="2926080"/>
            <a:ext cx="9966960" cy="868680"/>
          </a:xfrm>
          <a:prstGeom prst="rect">
            <a:avLst/>
          </a:prstGeom>
          <a:noFill/>
          <a:ln/>
        </p:spPr>
        <p:txBody>
          <a:bodyPr wrap="square" lIns="0" tIns="0" rIns="0" bIns="0" rtlCol="0" anchor="ctr"/>
          <a:lstStyle/>
          <a:p>
            <a:pPr indent="0" marL="0">
              <a:buNone/>
            </a:pPr>
            <a:r>
              <a:rPr lang="en-US" sz="1900" dirty="0">
                <a:solidFill>
                  <a:srgbClr val="CADCFC"/>
                </a:solidFill>
                <a:latin typeface="Arial" pitchFamily="34" charset="0"/>
                <a:ea typeface="Arial" pitchFamily="34" charset="-122"/>
                <a:cs typeface="Arial" pitchFamily="34" charset="-120"/>
              </a:rPr>
              <a:t>A combination of three simple models scores 0.44% lower RMSE than the AR(1) benchmark over 261 out-of-sample forecasts. The gap is not statistically significant, and the combination is level with the random walk.</a:t>
            </a:r>
            <a:endParaRPr lang="en-US" sz="1900" dirty="0"/>
          </a:p>
        </p:txBody>
      </p:sp>
      <p:sp>
        <p:nvSpPr>
          <p:cNvPr id="5" name="Text 3"/>
          <p:cNvSpPr/>
          <p:nvPr/>
        </p:nvSpPr>
        <p:spPr>
          <a:xfrm>
            <a:off x="822960"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0.5599</a:t>
            </a:r>
            <a:endParaRPr lang="en-US" sz="3400" dirty="0"/>
          </a:p>
        </p:txBody>
      </p:sp>
      <p:sp>
        <p:nvSpPr>
          <p:cNvPr id="6" name="Text 4"/>
          <p:cNvSpPr/>
          <p:nvPr/>
        </p:nvSpPr>
        <p:spPr>
          <a:xfrm>
            <a:off x="822960"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combination RMSE</a:t>
            </a:r>
            <a:endParaRPr lang="en-US" sz="1400" dirty="0"/>
          </a:p>
        </p:txBody>
      </p:sp>
      <p:sp>
        <p:nvSpPr>
          <p:cNvPr id="7" name="Text 5"/>
          <p:cNvSpPr/>
          <p:nvPr/>
        </p:nvSpPr>
        <p:spPr>
          <a:xfrm>
            <a:off x="3584448"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0.5624</a:t>
            </a:r>
            <a:endParaRPr lang="en-US" sz="3400" dirty="0"/>
          </a:p>
        </p:txBody>
      </p:sp>
      <p:sp>
        <p:nvSpPr>
          <p:cNvPr id="8" name="Text 6"/>
          <p:cNvSpPr/>
          <p:nvPr/>
        </p:nvSpPr>
        <p:spPr>
          <a:xfrm>
            <a:off x="3584448"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AR(1) benchmark</a:t>
            </a:r>
            <a:endParaRPr lang="en-US" sz="1400" dirty="0"/>
          </a:p>
        </p:txBody>
      </p:sp>
      <p:sp>
        <p:nvSpPr>
          <p:cNvPr id="9" name="Text 7"/>
          <p:cNvSpPr/>
          <p:nvPr/>
        </p:nvSpPr>
        <p:spPr>
          <a:xfrm>
            <a:off x="6345936"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0.5600</a:t>
            </a:r>
            <a:endParaRPr lang="en-US" sz="3400" dirty="0"/>
          </a:p>
        </p:txBody>
      </p:sp>
      <p:sp>
        <p:nvSpPr>
          <p:cNvPr id="10" name="Text 8"/>
          <p:cNvSpPr/>
          <p:nvPr/>
        </p:nvSpPr>
        <p:spPr>
          <a:xfrm>
            <a:off x="6345936"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random walk</a:t>
            </a:r>
            <a:endParaRPr lang="en-US" sz="1400" dirty="0"/>
          </a:p>
        </p:txBody>
      </p:sp>
      <p:sp>
        <p:nvSpPr>
          <p:cNvPr id="11" name="Text 9"/>
          <p:cNvSpPr/>
          <p:nvPr/>
        </p:nvSpPr>
        <p:spPr>
          <a:xfrm>
            <a:off x="9107424"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p = 0.449</a:t>
            </a:r>
            <a:endParaRPr lang="en-US" sz="3400" dirty="0"/>
          </a:p>
        </p:txBody>
      </p:sp>
      <p:sp>
        <p:nvSpPr>
          <p:cNvPr id="12" name="Text 10"/>
          <p:cNvSpPr/>
          <p:nvPr/>
        </p:nvSpPr>
        <p:spPr>
          <a:xfrm>
            <a:off x="9107424"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against the AR(1)</a:t>
            </a:r>
            <a:endParaRPr lang="en-US" sz="1400" dirty="0"/>
          </a:p>
        </p:txBody>
      </p:sp>
      <p:sp>
        <p:nvSpPr>
          <p:cNvPr id="13" name="Text 11"/>
          <p:cNvSpPr/>
          <p:nvPr/>
        </p:nvSpPr>
        <p:spPr>
          <a:xfrm>
            <a:off x="822960" y="5532120"/>
            <a:ext cx="10058400" cy="9144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Team Spurious Decision</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Aakash Anil and Stefan von der Heyden, Stellenbosch University</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SES x Codera Analytics Hackathon, 28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Can the AR(1) benchmark be beaten out of sample, and by how much?</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Shape 2"/>
          <p:cNvSpPr/>
          <p:nvPr/>
        </p:nvSpPr>
        <p:spPr>
          <a:xfrm>
            <a:off x="1371600" y="1371600"/>
            <a:ext cx="9418320" cy="1600200"/>
          </a:xfrm>
          <a:prstGeom prst="roundRect">
            <a:avLst>
              <a:gd name="adj" fmla="val 5714"/>
            </a:avLst>
          </a:prstGeom>
          <a:solidFill>
            <a:srgbClr val="F1F6F3"/>
          </a:solidFill>
          <a:ln w="12700">
            <a:solidFill>
              <a:srgbClr val="1A7A4A"/>
            </a:solidFill>
            <a:prstDash val="solid"/>
          </a:ln>
        </p:spPr>
      </p:sp>
      <p:sp>
        <p:nvSpPr>
          <p:cNvPr id="5" name="Text 3"/>
          <p:cNvSpPr/>
          <p:nvPr/>
        </p:nvSpPr>
        <p:spPr>
          <a:xfrm>
            <a:off x="1600200" y="1536192"/>
            <a:ext cx="8961120" cy="1280160"/>
          </a:xfrm>
          <a:prstGeom prst="rect">
            <a:avLst/>
          </a:prstGeom>
          <a:noFill/>
          <a:ln/>
        </p:spPr>
        <p:txBody>
          <a:bodyPr wrap="square" lIns="0" tIns="0" rIns="0" bIns="0" rtlCol="0" anchor="ctr"/>
          <a:lstStyle/>
          <a:p>
            <a:pPr algn="ctr" indent="0" marL="0">
              <a:buNone/>
            </a:pPr>
            <a:r>
              <a:rPr lang="en-US" sz="2100" dirty="0">
                <a:solidFill>
                  <a:srgbClr val="0E2A3B"/>
                </a:solidFill>
                <a:latin typeface="Arial" pitchFamily="34" charset="0"/>
                <a:ea typeface="Arial" pitchFamily="34" charset="-122"/>
                <a:cs typeface="Arial" pitchFamily="34" charset="-120"/>
              </a:rPr>
              <a:t>Forecast USDZAR 1 month ahead, every Friday, 1 Jan 2021 to 31 Dec 2025.</a:t>
            </a:r>
            <a:endParaRPr lang="en-US" sz="2100" dirty="0"/>
          </a:p>
          <a:p>
            <a:pPr algn="ctr" indent="0" marL="0">
              <a:buNone/>
            </a:pPr>
            <a:r>
              <a:rPr lang="en-US" sz="2100" dirty="0">
                <a:solidFill>
                  <a:srgbClr val="0E2A3B"/>
                </a:solidFill>
                <a:latin typeface="Arial" pitchFamily="34" charset="0"/>
                <a:ea typeface="Arial" pitchFamily="34" charset="-122"/>
                <a:cs typeface="Arial" pitchFamily="34" charset="-120"/>
              </a:rPr>
              <a:t>Compare RMSE with an AR(1), out of sample, and say how far the result can be trusted.</a:t>
            </a:r>
            <a:endParaRPr lang="en-US" sz="2100" dirty="0"/>
          </a:p>
        </p:txBody>
      </p:sp>
      <p:sp>
        <p:nvSpPr>
          <p:cNvPr id="6" name="Text 4"/>
          <p:cNvSpPr/>
          <p:nvPr/>
        </p:nvSpPr>
        <p:spPr>
          <a:xfrm>
            <a:off x="566928" y="3291840"/>
            <a:ext cx="11064240" cy="2194560"/>
          </a:xfrm>
          <a:prstGeom prst="rect">
            <a:avLst/>
          </a:prstGeom>
          <a:noFill/>
          <a:ln/>
        </p:spPr>
        <p:txBody>
          <a:bodyPr wrap="square" lIns="0" tIns="0" rIns="0" bIns="0" rtlCol="0" anchor="ctr"/>
          <a:lstStyle/>
          <a:p>
            <a:pPr marL="342900" indent="-342900">
              <a:spcAft>
                <a:spcPts val="1600"/>
              </a:spcAft>
              <a:buSzPct val="100000"/>
              <a:buChar char="•"/>
            </a:pPr>
            <a:r>
              <a:rPr lang="en-US" sz="2000" b="1" dirty="0">
                <a:solidFill>
                  <a:srgbClr val="1F2937"/>
                </a:solidFill>
                <a:latin typeface="Arial" pitchFamily="34" charset="0"/>
                <a:ea typeface="Arial" pitchFamily="34" charset="-122"/>
                <a:cs typeface="Arial" pitchFamily="34" charset="-120"/>
              </a:rPr>
              <a:t>Why it is hard.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Since Meese and Rogoff (1983), structural FX models lose to a no-change forecast at this horizon. Rossi (2013) finds that success depends on the sample, predictor, horizon and benchmark.</a:t>
            </a:r>
            <a:endParaRPr lang="en-US" sz="2000" dirty="0"/>
          </a:p>
          <a:p>
            <a:pPr indent="0" marL="0">
              <a:spcAft>
                <a:spcPts val="1600"/>
              </a:spcAft>
              <a:buNone/>
            </a:pPr>
            <a:r>
              <a:rPr lang="en-US" sz="2000" b="1" dirty="0">
                <a:solidFill>
                  <a:srgbClr val="1F2937"/>
                </a:solidFill>
                <a:latin typeface="Arial" pitchFamily="34" charset="0"/>
                <a:ea typeface="Arial" pitchFamily="34" charset="-122"/>
                <a:cs typeface="Arial" pitchFamily="34" charset="-120"/>
              </a:rPr>
              <a:t>Our answer.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A gain of 0.44% in RMSE over the AR(1) that is not statistically established, and no gain over the random walk.</a:t>
            </a:r>
            <a:endParaRPr lang="en-US" sz="2000" dirty="0"/>
          </a:p>
        </p:txBody>
      </p:sp>
      <p:sp>
        <p:nvSpPr>
          <p:cNvPr id="7"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Meese &amp; Rogoff (1983), J. Int. Econ.; Rossi (2013), J. Econ. Lit. Full references on the references slide.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Three simple models combined by recent accuracy, with settings chosen on 2015 to 2020, before the judged window</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model</a:t>
            </a:r>
            <a:endParaRPr lang="en-US" sz="2000" dirty="0"/>
          </a:p>
        </p:txBody>
      </p:sp>
      <p:sp>
        <p:nvSpPr>
          <p:cNvPr id="5" name="Text 3"/>
          <p:cNvSpPr/>
          <p:nvPr/>
        </p:nvSpPr>
        <p:spPr>
          <a:xfrm>
            <a:off x="566928" y="1810512"/>
            <a:ext cx="5212080" cy="2743200"/>
          </a:xfrm>
          <a:prstGeom prst="rect">
            <a:avLst/>
          </a:prstGeom>
          <a:noFill/>
          <a:ln/>
        </p:spPr>
        <p:txBody>
          <a:bodyPr wrap="square" lIns="0" tIns="0" rIns="0" bIns="0" rtlCol="0" anchor="ctr"/>
          <a:lstStyle/>
          <a:p>
            <a:pPr marL="342900" indent="-342900">
              <a:spcAft>
                <a:spcPts val="1300"/>
              </a:spcAft>
              <a:buSzPct val="100000"/>
              <a:buChar char="•"/>
            </a:pPr>
            <a:r>
              <a:rPr lang="en-US" sz="2000" b="1" dirty="0">
                <a:solidFill>
                  <a:srgbClr val="1F2937"/>
                </a:solidFill>
                <a:latin typeface="Arial" pitchFamily="34" charset="0"/>
                <a:ea typeface="Arial" pitchFamily="34" charset="-122"/>
                <a:cs typeface="Arial" pitchFamily="34" charset="-120"/>
              </a:rPr>
              <a:t>Random walk.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No change. The anchor.</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Carry.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Tilt by the JIBAR minus US T-bill gap.</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Ridge.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Commodity, dollar and risk predictors. Heavily shrunk.</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Weights.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Inverse recent out-of-sample error.</a:t>
            </a:r>
            <a:endParaRPr lang="en-US" sz="2000" dirty="0"/>
          </a:p>
        </p:txBody>
      </p:sp>
      <p:sp>
        <p:nvSpPr>
          <p:cNvPr id="6" name="Text 4"/>
          <p:cNvSpPr/>
          <p:nvPr/>
        </p:nvSpPr>
        <p:spPr>
          <a:xfrm>
            <a:off x="6309360" y="1417320"/>
            <a:ext cx="53035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How the test is protected</a:t>
            </a:r>
            <a:endParaRPr lang="en-US" sz="2000" dirty="0"/>
          </a:p>
        </p:txBody>
      </p:sp>
      <p:sp>
        <p:nvSpPr>
          <p:cNvPr id="7" name="Text 5"/>
          <p:cNvSpPr/>
          <p:nvPr/>
        </p:nvSpPr>
        <p:spPr>
          <a:xfrm>
            <a:off x="6309360" y="1810512"/>
            <a:ext cx="5303520" cy="2743200"/>
          </a:xfrm>
          <a:prstGeom prst="rect">
            <a:avLst/>
          </a:prstGeom>
          <a:noFill/>
          <a:ln/>
        </p:spPr>
        <p:txBody>
          <a:bodyPr wrap="square" lIns="0" tIns="0" rIns="0" bIns="0" rtlCol="0" anchor="ctr"/>
          <a:lstStyle/>
          <a:p>
            <a:pPr marL="342900" indent="-342900">
              <a:spcAft>
                <a:spcPts val="1300"/>
              </a:spcAft>
              <a:buSzPct val="100000"/>
              <a:buChar char="•"/>
            </a:pPr>
            <a:r>
              <a:rPr lang="en-US" sz="2000" dirty="0">
                <a:solidFill>
                  <a:srgbClr val="1F2937"/>
                </a:solidFill>
                <a:latin typeface="Arial" pitchFamily="34" charset="0"/>
                <a:ea typeface="Arial" pitchFamily="34" charset="-122"/>
                <a:cs typeface="Arial" pitchFamily="34" charset="-120"/>
              </a:rPr>
              <a:t>Inputs public by Friday 17:00 Johannesburg.</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Training only on already-resolved outcomes.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Purged cross-validation, scaler inside folds.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Weights use only resolved errors.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261 forecasts logged. Audit any one.</a:t>
            </a:r>
            <a:endParaRPr lang="en-US" sz="2000" dirty="0"/>
          </a:p>
        </p:txBody>
      </p:sp>
      <p:sp>
        <p:nvSpPr>
          <p:cNvPr id="8" name="Shape 6"/>
          <p:cNvSpPr/>
          <p:nvPr/>
        </p:nvSpPr>
        <p:spPr>
          <a:xfrm>
            <a:off x="566928" y="4800600"/>
            <a:ext cx="11064240" cy="1051560"/>
          </a:xfrm>
          <a:prstGeom prst="roundRect">
            <a:avLst>
              <a:gd name="adj" fmla="val 6957"/>
            </a:avLst>
          </a:prstGeom>
          <a:solidFill>
            <a:srgbClr val="0E2A3B"/>
          </a:solidFill>
          <a:ln w="12700">
            <a:solidFill>
              <a:srgbClr val="0E2A3B"/>
            </a:solidFill>
            <a:prstDash val="solid"/>
          </a:ln>
        </p:spPr>
      </p:sp>
      <p:sp>
        <p:nvSpPr>
          <p:cNvPr id="9" name="Text 7"/>
          <p:cNvSpPr/>
          <p:nvPr/>
        </p:nvSpPr>
        <p:spPr>
          <a:xfrm>
            <a:off x="868680" y="4956048"/>
            <a:ext cx="1051560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Small enough to derive by hand. </a:t>
            </a:r>
            <a:pPr indent="0" marL="0">
              <a:buNone/>
            </a:pPr>
            <a:r>
              <a:rPr lang="en-US" sz="1800" dirty="0">
                <a:solidFill>
                  <a:srgbClr val="CADCFC"/>
                </a:solidFill>
                <a:latin typeface="Arial" pitchFamily="34" charset="0"/>
                <a:ea typeface="Arial" pitchFamily="34" charset="-122"/>
                <a:cs typeface="Arial" pitchFamily="34" charset="-120"/>
              </a:rPr>
              <a:t>The combination is OLS, ridge regression and a weighted average, so every component can be worked through under questioning.</a:t>
            </a:r>
            <a:endParaRPr lang="en-US" sz="1800" dirty="0"/>
          </a:p>
        </p:txBody>
      </p:sp>
      <p:sp>
        <p:nvSpPr>
          <p:cNvPr id="10" name="Text 8"/>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EXCX135 via EconData (MARKET_RATES 1.0.0); JIBAR, SARB; US T-bill, VIX, dollar index, Brent, FRED; platinum, NYMEX.</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gained on the AR(1) until 28 March 2025, then gave most of it back</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t\hk\figures\presentation\cumse.png">    </p:cNvPr>
          <p:cNvPicPr>
            <a:picLocks noChangeAspect="1"/>
          </p:cNvPicPr>
          <p:nvPr/>
        </p:nvPicPr>
        <p:blipFill>
          <a:blip r:embed="rId1"/>
          <a:stretch>
            <a:fillRect/>
          </a:stretch>
        </p:blipFill>
        <p:spPr>
          <a:xfrm>
            <a:off x="566928" y="1371600"/>
            <a:ext cx="6949440" cy="3931920"/>
          </a:xfrm>
          <a:prstGeom prst="rect">
            <a:avLst/>
          </a:prstGeom>
        </p:spPr>
      </p:pic>
      <p:sp>
        <p:nvSpPr>
          <p:cNvPr id="5" name="Text 2"/>
          <p:cNvSpPr/>
          <p:nvPr/>
        </p:nvSpPr>
        <p:spPr>
          <a:xfrm>
            <a:off x="7772400" y="1417320"/>
            <a:ext cx="39319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Reading the chart</a:t>
            </a:r>
            <a:endParaRPr lang="en-US" sz="2000" dirty="0"/>
          </a:p>
        </p:txBody>
      </p:sp>
      <p:sp>
        <p:nvSpPr>
          <p:cNvPr id="6" name="Text 3"/>
          <p:cNvSpPr/>
          <p:nvPr/>
        </p:nvSpPr>
        <p:spPr>
          <a:xfrm>
            <a:off x="7772400" y="1828800"/>
            <a:ext cx="3931920" cy="2926080"/>
          </a:xfrm>
          <a:prstGeom prst="rect">
            <a:avLst/>
          </a:prstGeom>
          <a:noFill/>
          <a:ln/>
        </p:spPr>
        <p:txBody>
          <a:bodyPr wrap="square" lIns="0" tIns="0" rIns="0" bIns="0" rtlCol="0" anchor="ctr"/>
          <a:lstStyle/>
          <a:p>
            <a:pPr marL="342900" indent="-342900">
              <a:spcAft>
                <a:spcPts val="1400"/>
              </a:spcAft>
              <a:buSzPct val="100000"/>
              <a:buChar char="•"/>
            </a:pPr>
            <a:r>
              <a:rPr lang="en-US" sz="1700" dirty="0">
                <a:solidFill>
                  <a:srgbClr val="1F2937"/>
                </a:solidFill>
                <a:latin typeface="Arial" pitchFamily="34" charset="0"/>
                <a:ea typeface="Arial" pitchFamily="34" charset="-122"/>
                <a:cs typeface="Arial" pitchFamily="34" charset="-120"/>
              </a:rPr>
              <a:t>Cumulative squared-error gain peaked at 1.32 and ended at 0.72.</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The AR(1)'s implied long-run level sat below spot at 261 of 261 origins, by R2.11 on average, and it never forecast a rise.</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Squared bias is 55% of its excess squared error. The rest is variance.</a:t>
            </a:r>
            <a:endParaRPr lang="en-US" sz="1700" dirty="0"/>
          </a:p>
        </p:txBody>
      </p:sp>
      <p:sp>
        <p:nvSpPr>
          <p:cNvPr id="7" name="Shape 4"/>
          <p:cNvSpPr/>
          <p:nvPr/>
        </p:nvSpPr>
        <p:spPr>
          <a:xfrm>
            <a:off x="7772400" y="4709160"/>
            <a:ext cx="3931920" cy="1234440"/>
          </a:xfrm>
          <a:prstGeom prst="roundRect">
            <a:avLst>
              <a:gd name="adj" fmla="val 5926"/>
            </a:avLst>
          </a:prstGeom>
          <a:solidFill>
            <a:srgbClr val="FFF2CC"/>
          </a:solidFill>
          <a:ln w="12700">
            <a:solidFill>
              <a:srgbClr val="E6C800"/>
            </a:solidFill>
            <a:prstDash val="solid"/>
          </a:ln>
        </p:spPr>
      </p:sp>
      <p:sp>
        <p:nvSpPr>
          <p:cNvPr id="8" name="Text 5"/>
          <p:cNvSpPr/>
          <p:nvPr/>
        </p:nvSpPr>
        <p:spPr>
          <a:xfrm>
            <a:off x="7909560" y="4828032"/>
            <a:ext cx="3657600" cy="1005840"/>
          </a:xfrm>
          <a:prstGeom prst="rect">
            <a:avLst/>
          </a:prstGeom>
          <a:noFill/>
          <a:ln/>
        </p:spPr>
        <p:txBody>
          <a:bodyPr wrap="square" lIns="0" tIns="0" rIns="0" bIns="0" rtlCol="0" anchor="ctr"/>
          <a:lstStyle/>
          <a:p>
            <a:pPr algn="ctr" indent="0" marL="0">
              <a:buNone/>
            </a:pPr>
            <a:r>
              <a:rPr lang="en-US" sz="3000" b="1" dirty="0">
                <a:solidFill>
                  <a:srgbClr val="7A5200"/>
                </a:solidFill>
                <a:latin typeface="Arial" pitchFamily="34" charset="0"/>
                <a:ea typeface="Arial" pitchFamily="34" charset="-122"/>
                <a:cs typeface="Arial" pitchFamily="34" charset="-120"/>
              </a:rPr>
              <a:t>R2.11</a:t>
            </a:r>
            <a:endParaRPr lang="en-US" sz="3000" dirty="0"/>
          </a:p>
          <a:p>
            <a:pPr algn="ctr" indent="0" marL="0">
              <a:buNone/>
            </a:pPr>
            <a:r>
              <a:rPr lang="en-US" sz="1400" dirty="0">
                <a:solidFill>
                  <a:srgbClr val="7A5200"/>
                </a:solidFill>
                <a:latin typeface="Arial" pitchFamily="34" charset="0"/>
                <a:ea typeface="Arial" pitchFamily="34" charset="-122"/>
                <a:cs typeface="Arial" pitchFamily="34" charset="-120"/>
              </a:rPr>
              <a:t>average gap, implied level below spot</a:t>
            </a:r>
            <a:endParaRPr lang="en-US" sz="30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The downward lean is an observation, not shown to be the full explanation.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combination's RMSE is 0.44% below the AR(1)'s and level with the random walk's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t\hk\figures\presentation\rmse.png">    </p:cNvPr>
          <p:cNvPicPr>
            <a:picLocks noChangeAspect="1"/>
          </p:cNvPicPr>
          <p:nvPr/>
        </p:nvPicPr>
        <p:blipFill>
          <a:blip r:embed="rId1"/>
          <a:stretch>
            <a:fillRect/>
          </a:stretch>
        </p:blipFill>
        <p:spPr>
          <a:xfrm>
            <a:off x="566928" y="1325880"/>
            <a:ext cx="6949440" cy="4343400"/>
          </a:xfrm>
          <a:prstGeom prst="rect">
            <a:avLst/>
          </a:prstGeom>
        </p:spPr>
      </p:pic>
      <p:sp>
        <p:nvSpPr>
          <p:cNvPr id="5" name="Text 2"/>
          <p:cNvSpPr/>
          <p:nvPr/>
        </p:nvSpPr>
        <p:spPr>
          <a:xfrm>
            <a:off x="7635240" y="1371600"/>
            <a:ext cx="411480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numbers</a:t>
            </a:r>
            <a:endParaRPr lang="en-US" sz="2000" dirty="0"/>
          </a:p>
        </p:txBody>
      </p:sp>
      <p:sp>
        <p:nvSpPr>
          <p:cNvPr id="6" name="Text 3"/>
          <p:cNvSpPr/>
          <p:nvPr/>
        </p:nvSpPr>
        <p:spPr>
          <a:xfrm>
            <a:off x="7635240" y="1783080"/>
            <a:ext cx="4114800" cy="4023360"/>
          </a:xfrm>
          <a:prstGeom prst="rect">
            <a:avLst/>
          </a:prstGeom>
          <a:noFill/>
          <a:ln/>
        </p:spPr>
        <p:txBody>
          <a:bodyPr wrap="square" lIns="0" tIns="0" rIns="0" bIns="0" rtlCol="0" anchor="ctr"/>
          <a:lstStyle/>
          <a:p>
            <a:pPr marL="342900" indent="-342900">
              <a:spcAft>
                <a:spcPts val="1400"/>
              </a:spcAft>
              <a:buSzPct val="100000"/>
              <a:buChar char="•"/>
            </a:pPr>
            <a:r>
              <a:rPr lang="en-US" sz="1700" dirty="0">
                <a:solidFill>
                  <a:srgbClr val="1F2937"/>
                </a:solidFill>
                <a:latin typeface="Arial" pitchFamily="34" charset="0"/>
                <a:ea typeface="Arial" pitchFamily="34" charset="-122"/>
                <a:cs typeface="Arial" pitchFamily="34" charset="-120"/>
              </a:rPr>
              <a:t>Combination 0.5599, AR(1) 0.5624, random walk 0.5600, over 261 forecasts.</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Both prespecified intervals include zero: p = 0.449 against the AR(1), 0.967 against the random walk.</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Equal weights score 0.5599, so adaptive weighting adds nothing measurable.</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Gradient boosting scores 0.5745, the highest of 13 models. This specification only.</a:t>
            </a:r>
            <a:endParaRPr lang="en-US" sz="17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Intervals: Newey-West, lag 3. None of 21 exploratory comparisons survives Holm adjustment.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566928" y="365760"/>
            <a:ext cx="11064240" cy="457200"/>
          </a:xfrm>
          <a:prstGeom prst="rect">
            <a:avLst/>
          </a:prstGeom>
          <a:noFill/>
          <a:ln/>
        </p:spPr>
        <p:txBody>
          <a:bodyPr wrap="square" lIns="0" tIns="0" rIns="0" bIns="0" rtlCol="0" anchor="ctr"/>
          <a:lstStyle/>
          <a:p>
            <a:pPr indent="0" marL="0">
              <a:buNone/>
            </a:pPr>
            <a:r>
              <a:rPr lang="en-US" sz="2000" dirty="0">
                <a:solidFill>
                  <a:srgbClr val="A0BBDD"/>
                </a:solidFill>
                <a:latin typeface="Arial" pitchFamily="34" charset="0"/>
                <a:ea typeface="Arial" pitchFamily="34" charset="-122"/>
                <a:cs typeface="Arial" pitchFamily="34" charset="-120"/>
              </a:rPr>
              <a:t>Conclusions</a:t>
            </a:r>
            <a:endParaRPr lang="en-US" sz="2000" dirty="0"/>
          </a:p>
        </p:txBody>
      </p:sp>
      <p:sp>
        <p:nvSpPr>
          <p:cNvPr id="3" name="Shape 1"/>
          <p:cNvSpPr/>
          <p:nvPr/>
        </p:nvSpPr>
        <p:spPr>
          <a:xfrm>
            <a:off x="566928" y="868680"/>
            <a:ext cx="11064240" cy="45720"/>
          </a:xfrm>
          <a:prstGeom prst="rect">
            <a:avLst/>
          </a:prstGeom>
          <a:solidFill>
            <a:srgbClr val="C9A227"/>
          </a:solidFill>
          <a:ln w="12700">
            <a:solidFill>
              <a:srgbClr val="C9A227"/>
            </a:solidFill>
            <a:prstDash val="solid"/>
          </a:ln>
        </p:spPr>
      </p:sp>
      <p:sp>
        <p:nvSpPr>
          <p:cNvPr id="4" name="Text 2"/>
          <p:cNvSpPr/>
          <p:nvPr/>
        </p:nvSpPr>
        <p:spPr>
          <a:xfrm>
            <a:off x="566928" y="1143000"/>
            <a:ext cx="11064240" cy="4297680"/>
          </a:xfrm>
          <a:prstGeom prst="rect">
            <a:avLst/>
          </a:prstGeom>
          <a:noFill/>
          <a:ln/>
        </p:spPr>
        <p:txBody>
          <a:bodyPr wrap="square" lIns="0" tIns="0" rIns="0" bIns="0" rtlCol="0" anchor="ctr"/>
          <a:lstStyle/>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1.  A small gain over the AR(1).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0.44% lower RMSE, not statistically established (p = 0.449). Level with the random walk (p = 0.967).</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2.  Adaptive weighting adds nothing measurable.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Equal weights score 0.5599. The weights stayed between 0.306 and 0.353.</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3.  The AR(1) leans downward.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Its implied level was below spot at 261 of 261 origins. We have not tested whether that is why it lost.</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4.  What we do not claim.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Significance, directional skill (the combination's 46.4% accuracy equals the share of rises), or profitability. All 2021 to 2025 results are exploratory.</a:t>
            </a:r>
            <a:endParaRPr lang="en-US" sz="1900" dirty="0"/>
          </a:p>
        </p:txBody>
      </p:sp>
      <p:sp>
        <p:nvSpPr>
          <p:cNvPr id="5" name="Shape 3"/>
          <p:cNvSpPr/>
          <p:nvPr/>
        </p:nvSpPr>
        <p:spPr>
          <a:xfrm>
            <a:off x="566928" y="5623560"/>
            <a:ext cx="11064240" cy="18288"/>
          </a:xfrm>
          <a:prstGeom prst="rect">
            <a:avLst/>
          </a:prstGeom>
          <a:solidFill>
            <a:srgbClr val="2A4A5E"/>
          </a:solidFill>
          <a:ln w="12700">
            <a:solidFill>
              <a:srgbClr val="2A4A5E"/>
            </a:solidFill>
            <a:prstDash val="solid"/>
          </a:ln>
        </p:spPr>
      </p:sp>
      <p:sp>
        <p:nvSpPr>
          <p:cNvPr id="6" name="Text 4"/>
          <p:cNvSpPr/>
          <p:nvPr/>
        </p:nvSpPr>
        <p:spPr>
          <a:xfrm>
            <a:off x="566928" y="5760720"/>
            <a:ext cx="7863840" cy="365760"/>
          </a:xfrm>
          <a:prstGeom prst="rect">
            <a:avLst/>
          </a:prstGeom>
          <a:noFill/>
          <a:ln/>
        </p:spPr>
        <p:txBody>
          <a:bodyPr wrap="square" lIns="0" tIns="0" rIns="0" bIns="0" rtlCol="0" anchor="ctr"/>
          <a:lstStyle/>
          <a:p>
            <a:pPr indent="0" marL="0">
              <a:buNone/>
            </a:pPr>
            <a:r>
              <a:rPr lang="en-US" sz="1500" dirty="0">
                <a:solidFill>
                  <a:srgbClr val="A0BBDD"/>
                </a:solidFill>
                <a:latin typeface="Arial" pitchFamily="34" charset="0"/>
                <a:ea typeface="Arial" pitchFamily="34" charset="-122"/>
                <a:cs typeface="Arial" pitchFamily="34" charset="-120"/>
              </a:rPr>
              <a:t>Full code, forecast log and report in the submission. Reproduces end to end with one command.</a:t>
            </a:r>
            <a:endParaRPr lang="en-US" sz="1500" dirty="0"/>
          </a:p>
        </p:txBody>
      </p:sp>
      <p:sp>
        <p:nvSpPr>
          <p:cNvPr id="7" name="Text 5"/>
          <p:cNvSpPr/>
          <p:nvPr/>
        </p:nvSpPr>
        <p:spPr>
          <a:xfrm>
            <a:off x="8595360" y="5760720"/>
            <a:ext cx="3017520" cy="365760"/>
          </a:xfrm>
          <a:prstGeom prst="rect">
            <a:avLst/>
          </a:prstGeom>
          <a:noFill/>
          <a:ln/>
        </p:spPr>
        <p:txBody>
          <a:bodyPr wrap="square" lIns="0" tIns="0" rIns="0" bIns="0" rtlCol="0" anchor="ctr"/>
          <a:lstStyle/>
          <a:p>
            <a:pPr algn="r" indent="0" marL="0">
              <a:buNone/>
            </a:pPr>
            <a:r>
              <a:rPr lang="en-US" sz="1500" b="1" dirty="0">
                <a:solidFill>
                  <a:srgbClr val="C9A227"/>
                </a:solidFill>
                <a:latin typeface="Arial" pitchFamily="34" charset="0"/>
                <a:ea typeface="Arial" pitchFamily="34" charset="-122"/>
                <a:cs typeface="Arial" pitchFamily="34" charset="-120"/>
              </a:rPr>
              <a:t>Questions and feedback welcome.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References</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1188720"/>
            <a:ext cx="11064240" cy="4754880"/>
          </a:xfrm>
          <a:prstGeom prst="rect">
            <a:avLst/>
          </a:prstGeom>
          <a:noFill/>
          <a:ln/>
        </p:spPr>
        <p:txBody>
          <a:bodyPr wrap="square" lIns="0" tIns="0" rIns="0" bIns="0" rtlCol="0" anchor="ctr"/>
          <a:lstStyle/>
          <a:p>
            <a:pPr indent="0" marL="0">
              <a:spcAft>
                <a:spcPts val="900"/>
              </a:spcAft>
              <a:buNone/>
            </a:pPr>
            <a:r>
              <a:rPr lang="en-US" sz="1400" dirty="0">
                <a:solidFill>
                  <a:srgbClr val="1F2937"/>
                </a:solidFill>
                <a:latin typeface="Arial" pitchFamily="34" charset="0"/>
                <a:ea typeface="Arial" pitchFamily="34" charset="-122"/>
                <a:cs typeface="Arial" pitchFamily="34" charset="-120"/>
              </a:rPr>
              <a:t>Diebold, F.X. and Mariano, R.S. (1995). Comparing predictive accuracy. Journal of Business and Economic Statistics, 13(3), 253-263.</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Makridakis, S., Spiliotis, E. and Assimakopoulos, V. (2022). M5 accuracy competition: results, findings, and conclusions. International Journal of Forecasting.</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Meese, R. and Rogoff, K. (1983). Empirical exchange rate models of the seventies: do they fit out of sample? Journal of International Economics, 14, 3-24.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Rossi, B. (2013). Exchange rate predictability. Journal of Economic Literature, 51(4), 1063-1119.</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South African Reserve Bank (2022). Working Paper WP/22/14: can the distribution of rand returns improve exchange rate forecasts?</a:t>
            </a:r>
            <a:endParaRPr lang="en-US" sz="1400" dirty="0"/>
          </a:p>
        </p:txBody>
      </p:sp>
      <p:sp>
        <p:nvSpPr>
          <p:cNvPr id="5" name="Text 3"/>
          <p:cNvSpPr/>
          <p:nvPr/>
        </p:nvSpPr>
        <p:spPr>
          <a:xfrm>
            <a:off x="566928" y="6035040"/>
            <a:ext cx="11064240" cy="45720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series EXCX135 via EconData (MARKET_RATES 1.0.0, EXCX135.B.A). SARB. MARKET_RATES. Pretoria: SARB [producer]. Johannesburg: EconData [distributor],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Full results for every model: the leaders differ by 0.00068 in RMSE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3931920"/>
                <a:gridCol w="1280160"/>
                <a:gridCol w="1280160"/>
                <a:gridCol w="1828800"/>
                <a:gridCol w="1005840"/>
                <a:gridCol w="173736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RMSE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RMSE below AR(1)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Rank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Calls a rise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log level (benchmark)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level</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-0.09%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5-year window</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0.5724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0.4502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mean-corrected</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0.5617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+0.11%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59%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Random walk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0.4480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Random walk with drift</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0.4577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Carry</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0.4540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+0.32%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Gradient boosting</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0.5745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0.4723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-2.16%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65%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Combination</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0.4495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Equal-weight RW + carry + 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Adaptive RW + carry</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0.4504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Adaptive RW + 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RMSE below AR(1) is positive when a model beats the benchmark. Only the first row and the two prespecified comparisons were fixed in advance.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is below the AR(1) in 4 of 5 years; 2025 goes the other way</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B</a:t>
            </a:r>
            <a:endParaRPr lang="en-US" sz="1300" dirty="0"/>
          </a:p>
        </p:txBody>
      </p:sp>
      <p:pic>
        <p:nvPicPr>
          <p:cNvPr id="5" name="Image 0" descr="C:\t\hk\figures\presentation\yearly.png">    </p:cNvPr>
          <p:cNvPicPr>
            <a:picLocks noChangeAspect="1"/>
          </p:cNvPicPr>
          <p:nvPr/>
        </p:nvPicPr>
        <p:blipFill>
          <a:blip r:embed="rId1"/>
          <a:stretch>
            <a:fillRect/>
          </a:stretch>
        </p:blipFill>
        <p:spPr>
          <a:xfrm>
            <a:off x="2194560" y="1371600"/>
            <a:ext cx="7772400" cy="4297680"/>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Five annual figures cannot show whether the pattern is stable. We have not tested why 2025 differs.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target is verified against an independent source, and predictors join on publication time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C</a:t>
            </a:r>
            <a:endParaRPr lang="en-US" sz="1300" dirty="0"/>
          </a:p>
        </p:txBody>
      </p:sp>
      <p:sp>
        <p:nvSpPr>
          <p:cNvPr id="5" name="Text 3"/>
          <p:cNvSpPr/>
          <p:nvPr/>
        </p:nvSpPr>
        <p:spPr>
          <a:xfrm>
            <a:off x="566928" y="1371600"/>
            <a:ext cx="6035040" cy="4389120"/>
          </a:xfrm>
          <a:prstGeom prst="rect">
            <a:avLst/>
          </a:prstGeom>
          <a:noFill/>
          <a:ln/>
        </p:spPr>
        <p:txBody>
          <a:bodyPr wrap="square" lIns="0" tIns="0" rIns="0" bIns="0" rtlCol="0" anchor="ctr"/>
          <a:lstStyle/>
          <a:p>
            <a:pPr marL="342900" indent="-342900">
              <a:spcAft>
                <a:spcPts val="1500"/>
              </a:spcAft>
              <a:buSzPct val="100000"/>
              <a:buChar char="•"/>
            </a:pPr>
            <a:r>
              <a:rPr lang="en-US" sz="1700" b="1" dirty="0">
                <a:solidFill>
                  <a:srgbClr val="1F2937"/>
                </a:solidFill>
                <a:latin typeface="Arial" pitchFamily="34" charset="0"/>
                <a:ea typeface="Arial" pitchFamily="34" charset="-122"/>
                <a:cs typeface="Arial" pitchFamily="34" charset="-120"/>
              </a:rPr>
              <a:t>Source.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Official EconData export, MARKET_RATES 1.0.0, series EXCX135.B.A, 14,173 daily observations from 2 January 1970.</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Verification.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Compared value by value with the SARB Web API (EXCX135D): 9,141 overlapping observations, largest difference 0.000000, 0 mismatches.</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Predictors.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Daily market series joined on when each value became public, with the vintage then current for revised series. Rules and sources are in series_metadata.json.</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Timing check.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With every non-spot predictor a week later the combination moves from 0.5599 to 0.5598.</a:t>
            </a:r>
            <a:endParaRPr lang="en-US" sz="1700" dirty="0"/>
          </a:p>
        </p:txBody>
      </p:sp>
      <p:pic>
        <p:nvPicPr>
          <p:cNvPr id="6" name="Image 0" descr="C:\t\hk\figures\input_series.png">    </p:cNvPr>
          <p:cNvPicPr>
            <a:picLocks noChangeAspect="1"/>
          </p:cNvPicPr>
          <p:nvPr/>
        </p:nvPicPr>
        <p:blipFill>
          <a:blip r:embed="rId1"/>
          <a:stretch>
            <a:fillRect/>
          </a:stretch>
        </p:blipFill>
        <p:spPr>
          <a:xfrm>
            <a:off x="6858000" y="1280160"/>
            <a:ext cx="4846320" cy="4709160"/>
          </a:xfrm>
          <a:prstGeom prst="rect">
            <a:avLst/>
          </a:prstGeom>
        </p:spPr>
      </p:pic>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SARB. MARKET_RATES 1.0.0. Pretoria: SARB [producer]. Johannesburg: EconData [distributor], 2026. Verification script: src/verify_provenance.py.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Adaptive weights stayed between 0.306 and 0.353, close to equal weighting</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D</a:t>
            </a:r>
            <a:endParaRPr lang="en-US" sz="1300" dirty="0"/>
          </a:p>
        </p:txBody>
      </p:sp>
      <p:pic>
        <p:nvPicPr>
          <p:cNvPr id="5" name="Image 0" descr="C:\t\hk\figures\combination_weights.png">    </p:cNvPr>
          <p:cNvPicPr>
            <a:picLocks noChangeAspect="1"/>
          </p:cNvPicPr>
          <p:nvPr/>
        </p:nvPicPr>
        <p:blipFill>
          <a:blip r:embed="rId1"/>
          <a:stretch>
            <a:fillRect/>
          </a:stretch>
        </p:blipFill>
        <p:spPr>
          <a:xfrm>
            <a:off x="566928" y="1371600"/>
            <a:ext cx="6949440" cy="3090672"/>
          </a:xfrm>
          <a:prstGeom prst="rect">
            <a:avLst/>
          </a:prstGeom>
        </p:spPr>
      </p:pic>
      <p:sp>
        <p:nvSpPr>
          <p:cNvPr id="6" name="Text 3"/>
          <p:cNvSpPr/>
          <p:nvPr/>
        </p:nvSpPr>
        <p:spPr>
          <a:xfrm>
            <a:off x="7772400" y="1463040"/>
            <a:ext cx="3931920" cy="2926080"/>
          </a:xfrm>
          <a:prstGeom prst="rect">
            <a:avLst/>
          </a:prstGeom>
          <a:noFill/>
          <a:ln/>
        </p:spPr>
        <p:txBody>
          <a:bodyPr wrap="square" lIns="0" tIns="0" rIns="0" bIns="0" rtlCol="0" anchor="ctr"/>
          <a:lstStyle/>
          <a:p>
            <a:pPr marL="342900" indent="-342900">
              <a:spcAft>
                <a:spcPts val="1000"/>
              </a:spcAft>
              <a:buSzPct val="100000"/>
              <a:buChar char="•"/>
            </a:pPr>
            <a:r>
              <a:rPr lang="en-US" sz="1700" b="1" dirty="0">
                <a:solidFill>
                  <a:srgbClr val="1F2937"/>
                </a:solidFill>
                <a:latin typeface="Arial" pitchFamily="34" charset="0"/>
                <a:ea typeface="Arial" pitchFamily="34" charset="-122"/>
                <a:cs typeface="Arial" pitchFamily="34" charset="-120"/>
              </a:rPr>
              <a:t>Chosen on 2 January 2015 to 27 November 2020:</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ridge on the full predictor set, no intercept</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decay 0.97 on past errors</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sharpness 2</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window of 156 resolved origins</a:t>
            </a:r>
            <a:endParaRPr lang="en-US" sz="1700" dirty="0"/>
          </a:p>
        </p:txBody>
      </p:sp>
      <p:sp>
        <p:nvSpPr>
          <p:cNvPr id="7" name="Text 4"/>
          <p:cNvSpPr/>
          <p:nvPr/>
        </p:nvSpPr>
        <p:spPr>
          <a:xfrm>
            <a:off x="566928" y="475488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The three components' errors are almost the same series (correlation up to 0.99998), so inverse-error weights barely move off one third each. An equal-weight average scores 0.5599 against 0.5599 for the adaptive combination.</a:t>
            </a:r>
            <a:endParaRPr lang="en-US" sz="1800" dirty="0"/>
          </a:p>
        </p:txBody>
      </p:sp>
      <p:sp>
        <p:nvSpPr>
          <p:cNvPr id="8"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Full validation grid in validation_metrics.json; those scores were used for selection.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Gradient boosting scored 0.5745, the highest of 13 models, for this specification</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E</a:t>
            </a:r>
            <a:endParaRPr lang="en-US" sz="1300" dirty="0"/>
          </a:p>
        </p:txBody>
      </p:sp>
      <p:sp>
        <p:nvSpPr>
          <p:cNvPr id="5" name="Shape 3"/>
          <p:cNvSpPr/>
          <p:nvPr/>
        </p:nvSpPr>
        <p:spPr>
          <a:xfrm>
            <a:off x="566928" y="1417320"/>
            <a:ext cx="5394960" cy="4023360"/>
          </a:xfrm>
          <a:prstGeom prst="roundRect">
            <a:avLst>
              <a:gd name="adj" fmla="val 2273"/>
            </a:avLst>
          </a:prstGeom>
          <a:solidFill>
            <a:srgbClr val="F1F6F3"/>
          </a:solidFill>
          <a:ln w="12700">
            <a:solidFill>
              <a:srgbClr val="D6DEE6"/>
            </a:solidFill>
            <a:prstDash val="solid"/>
          </a:ln>
        </p:spPr>
      </p:sp>
      <p:sp>
        <p:nvSpPr>
          <p:cNvPr id="6" name="Text 4"/>
          <p:cNvSpPr/>
          <p:nvPr/>
        </p:nvSpPr>
        <p:spPr>
          <a:xfrm>
            <a:off x="868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ran</a:t>
            </a:r>
            <a:endParaRPr lang="en-US" sz="2000" dirty="0"/>
          </a:p>
        </p:txBody>
      </p:sp>
      <p:sp>
        <p:nvSpPr>
          <p:cNvPr id="7" name="Text 5"/>
          <p:cNvSpPr/>
          <p:nvPr/>
        </p:nvSpPr>
        <p:spPr>
          <a:xfrm>
            <a:off x="868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HistGradientBoosting with a fixed seed. Every 52 weeks, purged cross-validation picks its depth, learning rate, iterations, L2 penalty and leaf size from 12 configurations. Same information set, same embargo and same walk-forward loop as every other model.</a:t>
            </a:r>
            <a:endParaRPr lang="en-US" sz="1800" dirty="0"/>
          </a:p>
        </p:txBody>
      </p:sp>
      <p:sp>
        <p:nvSpPr>
          <p:cNvPr id="8" name="Shape 6"/>
          <p:cNvSpPr/>
          <p:nvPr/>
        </p:nvSpPr>
        <p:spPr>
          <a:xfrm>
            <a:off x="6263640" y="1417320"/>
            <a:ext cx="5394960" cy="4023360"/>
          </a:xfrm>
          <a:prstGeom prst="roundRect">
            <a:avLst>
              <a:gd name="adj" fmla="val 2273"/>
            </a:avLst>
          </a:prstGeom>
          <a:solidFill>
            <a:srgbClr val="F1F6F3"/>
          </a:solidFill>
          <a:ln w="12700">
            <a:solidFill>
              <a:srgbClr val="D6DEE6"/>
            </a:solidFill>
            <a:prstDash val="solid"/>
          </a:ln>
        </p:spPr>
      </p:sp>
      <p:sp>
        <p:nvSpPr>
          <p:cNvPr id="9" name="Text 7"/>
          <p:cNvSpPr/>
          <p:nvPr/>
        </p:nvSpPr>
        <p:spPr>
          <a:xfrm>
            <a:off x="6583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can say</a:t>
            </a:r>
            <a:endParaRPr lang="en-US" sz="2000" dirty="0"/>
          </a:p>
        </p:txBody>
      </p:sp>
      <p:sp>
        <p:nvSpPr>
          <p:cNvPr id="10" name="Text 8"/>
          <p:cNvSpPr/>
          <p:nvPr/>
        </p:nvSpPr>
        <p:spPr>
          <a:xfrm>
            <a:off x="6583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It is 2.2% above the AR(1) and 2.6% above the random walk, and neither difference is significant (p = 0.363, 0.273). With every predictor a week later its RMSE moves from 0.5745 to 0.5638. We have not diagnosed why it does worse, and the result covers this feature set, grid and sample only.</a:t>
            </a:r>
            <a:endParaRPr lang="en-US" sz="1800" dirty="0"/>
          </a:p>
        </p:txBody>
      </p:sp>
      <p:sp>
        <p:nvSpPr>
          <p:cNvPr id="11" name="Text 9"/>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The M5 accuracy results paper (Makridakis, Spiliotis and Assimakopoulos, 2022) reports that the top methods were ML methods, mostly LightGBM, and that combinations helped.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Forecasts stay close to the current rate and lag the realised series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F</a:t>
            </a:r>
            <a:endParaRPr lang="en-US" sz="1300" dirty="0"/>
          </a:p>
        </p:txBody>
      </p:sp>
      <p:pic>
        <p:nvPicPr>
          <p:cNvPr id="5" name="Image 0" descr="C:\t\hk\figures\forecasts_vs_actual.png">    </p:cNvPr>
          <p:cNvPicPr>
            <a:picLocks noChangeAspect="1"/>
          </p:cNvPicPr>
          <p:nvPr/>
        </p:nvPicPr>
        <p:blipFill>
          <a:blip r:embed="rId1"/>
          <a:stretch>
            <a:fillRect/>
          </a:stretch>
        </p:blipFill>
        <p:spPr>
          <a:xfrm>
            <a:off x="1188720" y="1325880"/>
            <a:ext cx="9784080" cy="4599432"/>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Forecasts plotted at their target dates against EXCX135.</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One forecast in full: 3 June 2022</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G</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2926080"/>
                <a:gridCol w="1554480"/>
                <a:gridCol w="4754880"/>
                <a:gridCol w="182880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Forecast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it got there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Error</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Gradient boosting</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15.5674</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boosted trees on the same predictors</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-0.7808</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Carry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15.4563</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 x (1 + 0.0377 x 28/365)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-0.8919</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b="1" dirty="0">
                          <a:solidFill>
                            <a:srgbClr val="1F2937"/>
                          </a:solidFill>
                          <a:latin typeface="Arial" pitchFamily="34" charset="0"/>
                          <a:ea typeface="Arial" pitchFamily="34" charset="-122"/>
                          <a:cs typeface="Arial" pitchFamily="34" charset="-120"/>
                        </a:rPr>
                        <a:t>Combination</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15.4275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0.333 x RW + 0.337 x Carry + 0.331 x 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-0.9207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15.4141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small tilt away from spot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-0.9341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Random walk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today's rate, unchanged</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AR(1), log level (benchmark)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15.3861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iterated 4 steps towards its long-run level, R13.01 that day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-0.9621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484632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Origin 3 June 2022, spot R15.4117. Target 1 July 2022, actual R16.3482. Every model forecast too low. The forecasts span 18 cents against an actual move of 94 cents.</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and combo_weights.csv. Rows sorted by forecast.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All 2021 to 2025 results are exploratory; a prospective test needs forecasts made after the design is frozen</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H</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508760"/>
          <a:ext cx="5394960" cy="914400"/>
        </p:xfrm>
        <a:graphic>
          <a:graphicData uri="http://schemas.openxmlformats.org/drawingml/2006/table">
            <a:tbl>
              <a:tblPr/>
              <a:tblGrid>
                <a:gridCol w="1280160"/>
                <a:gridCol w="2194560"/>
                <a:gridCol w="1920240"/>
              </a:tblGrid>
              <a:tr h="457200">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RMSE cut</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Origins needed vs AR(1)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Origins needed vs RW</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680</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120</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172</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31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29</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3931920"/>
            <a:ext cx="5394960" cy="219456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Two-sided 5% test, 80% power, with the loss differential's spread and the benchmark's MSE held at their 2021 to 2025 values. Against the random walk the counts are small only because the combination and the random walk are nearly the same forecast, so a 1 to 5% cut between them is implausible. Effect sizes are round numbers fixed in advance. The table says nothing about any other forecaster.</a:t>
            </a:r>
            <a:endParaRPr lang="en-US" sz="1400" dirty="0"/>
          </a:p>
        </p:txBody>
      </p:sp>
      <p:sp>
        <p:nvSpPr>
          <p:cNvPr id="7" name="Text 4"/>
          <p:cNvSpPr/>
          <p:nvPr/>
        </p:nvSpPr>
        <p:spPr>
          <a:xfrm>
            <a:off x="6400800"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Protocol</a:t>
            </a:r>
            <a:endParaRPr lang="en-US" sz="2000" dirty="0"/>
          </a:p>
        </p:txBody>
      </p:sp>
      <p:sp>
        <p:nvSpPr>
          <p:cNvPr id="8" name="Text 5"/>
          <p:cNvSpPr/>
          <p:nvPr/>
        </p:nvSpPr>
        <p:spPr>
          <a:xfrm>
            <a:off x="6400800" y="1828800"/>
            <a:ext cx="5212080" cy="4023360"/>
          </a:xfrm>
          <a:prstGeom prst="rect">
            <a:avLst/>
          </a:prstGeom>
          <a:noFill/>
          <a:ln/>
        </p:spPr>
        <p:txBody>
          <a:bodyPr wrap="square" lIns="0" tIns="0" rIns="0" bIns="0" rtlCol="0" anchor="ctr"/>
          <a:lstStyle/>
          <a:p>
            <a:pPr marL="342900" indent="-342900">
              <a:spcAft>
                <a:spcPts val="1200"/>
              </a:spcAft>
              <a:buSzPct val="100000"/>
              <a:buChar char="•"/>
            </a:pPr>
            <a:r>
              <a:rPr lang="en-US" sz="1700" dirty="0">
                <a:solidFill>
                  <a:srgbClr val="1F2937"/>
                </a:solidFill>
                <a:latin typeface="Arial" pitchFamily="34" charset="0"/>
                <a:ea typeface="Arial" pitchFamily="34" charset="-122"/>
                <a:cs typeface="Arial" pitchFamily="34" charset="-120"/>
              </a:rPr>
              <a:t>Freeze the commit, the chosen configuration and the data snapshot before the first new origin.</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Prespecify two tests: combination against the AR(1) and against the random walk.</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Fix the sample size and stop date from the planning table.</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Score each origin once, in a log that is only appended to.</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Report the result whatever it is.</a:t>
            </a:r>
            <a:endParaRPr lang="en-US" sz="17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Details in docs/METHODOLOGY.md, section 13.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USDZAR one month ahead</dc:title>
  <dc:subject>PptxGenJS Presentation</dc:subject>
  <dc:creator>Spurious Decision - Aakash Anil, Stefan von der Heyden</dc:creator>
  <cp:lastModifiedBy>Spurious Decision - Aakash Anil, Stefan von der Heyden</cp:lastModifiedBy>
  <cp:revision>1</cp:revision>
  <dcterms:created xsi:type="dcterms:W3CDTF">2026-07-01T00:00:00.000Z</dcterms:created>
  <dcterms:modified xsi:type="dcterms:W3CDTF">2026-07-01T00:00:00.000Z</dcterms:modified>
</cp:coreProperties>
</file>